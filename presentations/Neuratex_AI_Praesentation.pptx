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Ich helfe technischen Unternehmen dabei, Informationen schnell auffindbar zu machen, ohne ihre Systeme umzubauen.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09728" cy="18288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400" b="0">
                <a:solidFill>
                  <a:srgbClr val="CBD5E1"/>
                </a:solidFill>
                <a:latin typeface="Arial"/>
              </a:defRPr>
            </a:pPr>
            <a:r>
              <a:t>Wissen nutzbar machen.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400" b="0">
                <a:solidFill>
                  <a:srgbClr val="CBD5E1"/>
                </a:solidFill>
                <a:latin typeface="Arial"/>
              </a:defRPr>
            </a:pPr>
            <a:r>
              <a:t>Suche eliminieren.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400" b="0">
                <a:solidFill>
                  <a:srgbClr val="CBD5E1"/>
                </a:solidFill>
                <a:latin typeface="Arial"/>
              </a:defRPr>
            </a:pPr>
            <a:r>
              <a:t>Service beschleunigen.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4800" b="1">
                <a:solidFill>
                  <a:srgbClr val="FFC947"/>
                </a:solidFill>
                <a:latin typeface="Arial"/>
              </a:defRPr>
            </a:pPr>
            <a:r>
              <a:t>Neuratex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0">
                <a:solidFill>
                  <a:srgbClr val="CBD5E1"/>
                </a:solidFill>
                <a:latin typeface="Arial"/>
              </a:defRPr>
            </a:pPr>
            <a:r>
              <a:t>Philipp Koch</a:t>
            </a:r>
          </a:p>
        </p:txBody>
      </p:sp>
      <p:pic>
        <p:nvPicPr>
          <p:cNvPr id="8" name="Picture 7" descr="neuratex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2743200" cy="16428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9144000" cy="254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947"/>
                </a:solidFill>
                <a:latin typeface="Arial"/>
              </a:defRPr>
            </a:pPr>
            <a:r>
              <a:t>DIE REALITÄT IN TECHNISCHEN UNTERNEHMEN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Warum es heute oft unnötig langsam 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4023360" cy="25603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55648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Kritisches Wissen liegt verteilt in: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3749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PDFs und Scans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Tabellen und Listen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Zeichnungen und Katalogen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E-Mails, Ordnern, SharePoint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Köpfen einzelner Mitarbeiter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645920"/>
            <a:ext cx="4023360" cy="25603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755648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Das Ergebnis im Alltag: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057400"/>
            <a:ext cx="3749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Suchen statt arbeiten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Rückfragen statt Lösungen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Abhängigkeit von Schlüsselpersonen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Lange Antwortzeiten im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9377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defRPr sz="1700" b="1">
                <a:solidFill>
                  <a:srgbClr val="0A1931"/>
                </a:solidFill>
                <a:latin typeface="Arial"/>
              </a:defRPr>
            </a:pPr>
            <a:r>
              <a:t>Wenn Information existiert, aber nicht auffindbar ist,</a:t>
            </a:r>
            <a:br/>
            <a:r>
              <a:t>ist sie wirtschaftlich wertlos.</a:t>
            </a:r>
          </a:p>
        </p:txBody>
      </p:sp>
      <p:pic>
        <p:nvPicPr>
          <p:cNvPr id="11" name="Picture 10" descr="neuratex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188720" cy="71188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446520"/>
            <a:ext cx="9144000" cy="254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947"/>
                </a:solidFill>
                <a:latin typeface="Arial"/>
              </a:defRPr>
            </a:pPr>
            <a:r>
              <a:t>WAS ES WIRKLICH KOSTET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Zeitverlust ist nur die Oberfläche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38100" cy="256032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Direkte Kosten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Suchzeit im Service und Vertrieb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Unterbrechungen und Kontextwechsel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Doppelte Arbeit durch wiederholte Recherche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645920"/>
            <a:ext cx="38100" cy="256032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Indirekte Kosten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01168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Langsamer Service wirkt inkompetent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Kunden springen ab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Experten werden zum Flaschenhals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Einarbeitung dauert zu lange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9377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defRPr sz="1700" b="1">
                <a:solidFill>
                  <a:srgbClr val="0A1931"/>
                </a:solidFill>
                <a:latin typeface="Arial"/>
              </a:defRPr>
            </a:pPr>
            <a:r>
              <a:t>Wachstum scheitert selten an Nachfrage.</a:t>
            </a:r>
            <a:br/>
            <a:r>
              <a:t>Es scheitert an Zugriff auf Wissen.</a:t>
            </a:r>
          </a:p>
        </p:txBody>
      </p:sp>
      <p:pic>
        <p:nvPicPr>
          <p:cNvPr id="11" name="Picture 10" descr="neuratex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188720" cy="71188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446520"/>
            <a:ext cx="9144000" cy="254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947"/>
                </a:solidFill>
                <a:latin typeface="Arial"/>
              </a:defRPr>
            </a:pPr>
            <a:r>
              <a:t>WARUM KLASSISCHE ANSÄTZE NICHT REICHEN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Warum Teams, SharePoint und Ablage das Problem nicht lösen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37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 b="1">
                <a:solidFill>
                  <a:srgbClr val="FFC947"/>
                </a:solidFill>
                <a:latin typeface="Arial"/>
              </a:defRPr>
            </a:pPr>
            <a:r>
              <a:t>Ablage ist nicht Zugriff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94560"/>
            <a:ext cx="841248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8412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Wer nicht weiß, wonach er suchen muss, findet nichts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Gescannte Tabellen und Zeichnungen sind nicht zuverlässig durchsuchbar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Wissen aus gelösten Fällen wird selten standardisiert festgehalten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Ergebnisse landen in Chats, Telefonaten oder WhatsApp – und verschwinden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9377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defRPr sz="1700" b="1">
                <a:solidFill>
                  <a:srgbClr val="0A1931"/>
                </a:solidFill>
                <a:latin typeface="Arial"/>
              </a:defRPr>
            </a:pPr>
            <a:r>
              <a:t>Viele Unternehmen haben Speicher. Was fehlt, ist ein Gedächtnis.</a:t>
            </a:r>
          </a:p>
        </p:txBody>
      </p:sp>
      <p:pic>
        <p:nvPicPr>
          <p:cNvPr id="8" name="Picture 7" descr="neuratex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188720" cy="7118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9144000" cy="254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947"/>
                </a:solidFill>
                <a:latin typeface="Arial"/>
              </a:defRPr>
            </a:pPr>
            <a:r>
              <a:t>WAS WIR KONKRET LIEFERN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Keine Tool-Show. Konkrete Ergebnisse.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Wir liefern drei Dinge, je nach Ausgangslage: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2103120"/>
            <a:ext cx="411480" cy="411480"/>
          </a:xfrm>
          <a:prstGeom prst="ellipse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1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0">
                <a:solidFill>
                  <a:srgbClr val="F8FAFC"/>
                </a:solidFill>
                <a:latin typeface="Arial"/>
              </a:defRPr>
            </a:pPr>
            <a:r>
              <a:t>Dokumente werden nutzbar gemacht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2697479"/>
            <a:ext cx="411480" cy="411480"/>
          </a:xfrm>
          <a:prstGeom prst="ellipse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1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706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0">
                <a:solidFill>
                  <a:srgbClr val="F8FAFC"/>
                </a:solidFill>
                <a:latin typeface="Arial"/>
              </a:defRPr>
            </a:pPr>
            <a:r>
              <a:t>Erfahrungswissen wird strukturiert gesichert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3291839"/>
            <a:ext cx="411480" cy="411480"/>
          </a:xfrm>
          <a:prstGeom prst="ellipse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1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64991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 b="0">
                <a:solidFill>
                  <a:srgbClr val="F8FAFC"/>
                </a:solidFill>
                <a:latin typeface="Arial"/>
              </a:defRPr>
            </a:pPr>
            <a:r>
              <a:t>Zugriff wird drastisch beschleunigt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9377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defRPr sz="1700" b="1">
                <a:solidFill>
                  <a:srgbClr val="0A1931"/>
                </a:solidFill>
                <a:latin typeface="Arial"/>
              </a:defRPr>
            </a:pPr>
            <a:r>
              <a:t>Wir ersetzen keine Systeme.</a:t>
            </a:r>
            <a:br/>
            <a:r>
              <a:t>Wir bauen eine Zugriffsebene auf Ihren Bestand.</a:t>
            </a:r>
          </a:p>
        </p:txBody>
      </p:sp>
      <p:pic>
        <p:nvPicPr>
          <p:cNvPr id="12" name="Picture 11" descr="neuratex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188720" cy="71188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446520"/>
            <a:ext cx="9144000" cy="254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C947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947"/>
                </a:solidFill>
                <a:latin typeface="Arial"/>
              </a:defRPr>
            </a:pPr>
            <a:r>
              <a:t>LÖSUNG 1: ALTUNTERLAGEN NUTZBAR MACHEN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Von Scan-Chaos zu Arbeitsdaten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4023360" cy="25603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Typische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3749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Gescannte Kataloge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PDF-Tabellen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Stücklisten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Kennlinien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Ersatzteilseiten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Zeichnungen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645920"/>
            <a:ext cx="4023360" cy="256032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755648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Outputs, die im Alltag zählen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057400"/>
            <a:ext cx="3749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Durchsuchbare Dokumente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Saubere Tabellen (Excel/CSV)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Importdaten für ERP oder Shop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Strukturierte Daten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9377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defRPr sz="1700" b="1">
                <a:solidFill>
                  <a:srgbClr val="0A1931"/>
                </a:solidFill>
                <a:latin typeface="Arial"/>
              </a:defRPr>
            </a:pPr>
            <a:r>
              <a:t>Jemand findet in 30 Sekunden, was er heute in 15 Minuten sucht.</a:t>
            </a:r>
          </a:p>
        </p:txBody>
      </p:sp>
      <p:pic>
        <p:nvPicPr>
          <p:cNvPr id="12" name="Picture 11" descr="neuratex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188720" cy="71188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446520"/>
            <a:ext cx="9144000" cy="254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C947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947"/>
                </a:solidFill>
                <a:latin typeface="Arial"/>
              </a:defRPr>
            </a:pPr>
            <a:r>
              <a:t>LÖSUNG 2: ERFAHRUNGSWISSEN SICHERN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Wissen geht sonst in Rente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4023360" cy="18288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Das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3749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Trefferquote hängt an Personen, nicht am System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Lösungen sind implizit und undokumentiert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Neue Mitarbeiter müssen fragen statt handeln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645920"/>
            <a:ext cx="4023360" cy="18288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755648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Unsere Lösung: Schlanke Fallkarten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057400"/>
            <a:ext cx="3749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Maschine / Baureihe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Symptom / Anfrage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Lösungsschritte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Teile und Hinweise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841248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794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Ergebnis: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94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Wissen bleibt im Unternehmen  •  Einarbeitung schneller  •  Qualität stabiler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2976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defRPr sz="1700" b="1">
                <a:solidFill>
                  <a:srgbClr val="0A1931"/>
                </a:solidFill>
                <a:latin typeface="Arial"/>
              </a:defRPr>
            </a:pPr>
            <a:r>
              <a:t>Gute Leute sollen Probleme lösen. Nicht Wissen wiederfinden.</a:t>
            </a:r>
          </a:p>
        </p:txBody>
      </p:sp>
      <p:pic>
        <p:nvPicPr>
          <p:cNvPr id="15" name="Picture 14" descr="neuratex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188720" cy="71188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46520"/>
            <a:ext cx="9144000" cy="254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C94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947"/>
                </a:solidFill>
                <a:latin typeface="Arial"/>
              </a:defRPr>
            </a:pPr>
            <a:r>
              <a:t>LÖSUNG 3: INTERNES ASSISTENZSYSTEM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Schnelle Antworten aus eigenen Quellen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697480" cy="17373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Was es 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Internes System für Service &amp; Vertrieb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Beantwortet Fragen aus Ihren Dokumenten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645920"/>
            <a:ext cx="2697480" cy="17373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75564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Was es NICHT 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057400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Kein Endkundentool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Kein Chatbot ohne Nachweise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Keine Fantasie-Antworten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45920"/>
            <a:ext cx="2697480" cy="17373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75564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Vertrauen durch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057400"/>
            <a:ext cx="2423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Antworten mit Quellenbezug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Verlinkung zur Originalstelle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Nachvollziehbar für Mitarbeiter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8412480" cy="127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Ergebnis: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03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Minuten statt Viertelstunden  •  Weniger Rückfragen  •  Experten entlastet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20624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defRPr sz="1700" b="1">
                <a:solidFill>
                  <a:srgbClr val="0A1931"/>
                </a:solidFill>
                <a:latin typeface="Arial"/>
              </a:defRPr>
            </a:pPr>
            <a:r>
              <a:t>Schneller Zugriff auf vorhandenes Wissen.</a:t>
            </a:r>
          </a:p>
        </p:txBody>
      </p:sp>
      <p:pic>
        <p:nvPicPr>
          <p:cNvPr id="18" name="Picture 17" descr="neuratex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188720" cy="71188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9144000" cy="254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947"/>
                </a:solidFill>
                <a:latin typeface="Arial"/>
              </a:defRPr>
            </a:pPr>
            <a:r>
              <a:t>SO VERBINDEN SICH DIE DREI LÖSUNGEN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Ein System. Drei Einstiegspunkte.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697480" cy="914400"/>
          </a:xfrm>
          <a:prstGeom prst="roundRect">
            <a:avLst/>
          </a:prstGeom>
          <a:solidFill>
            <a:srgbClr val="112240"/>
          </a:solidFill>
          <a:ln w="25400">
            <a:solidFill>
              <a:srgbClr val="FFC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Dokumente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sind die Basis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45920"/>
            <a:ext cx="2697480" cy="914400"/>
          </a:xfrm>
          <a:prstGeom prst="roundRect">
            <a:avLst/>
          </a:prstGeom>
          <a:solidFill>
            <a:srgbClr val="112240"/>
          </a:solidFill>
          <a:ln w="25400">
            <a:solidFill>
              <a:srgbClr val="FFC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Erfahrungswissen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macht es praxisnah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2697480" cy="914400"/>
          </a:xfrm>
          <a:prstGeom prst="roundRect">
            <a:avLst/>
          </a:prstGeom>
          <a:solidFill>
            <a:srgbClr val="112240"/>
          </a:solidFill>
          <a:ln w="25400">
            <a:solidFill>
              <a:srgbClr val="FFC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9" y="17373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Assistenz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21031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macht Zugriff schnell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63240" y="1965960"/>
            <a:ext cx="182880" cy="182880"/>
          </a:xfrm>
          <a:prstGeom prst="rightArrow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897880" y="1965960"/>
            <a:ext cx="182880" cy="182880"/>
          </a:xfrm>
          <a:prstGeom prst="rightArrow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926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8FAFC"/>
                </a:solidFill>
                <a:latin typeface="Arial"/>
              </a:defRPr>
            </a:pPr>
            <a:r>
              <a:t>Man kann starten mit: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918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Altunterlagen → wenn Dokumentchaos dominiert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Wissensfällen → wenn Experten Engpass sind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•  Assistenz → wenn Suche im Alltag Zeit frisst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9377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defRPr sz="1700" b="1">
                <a:solidFill>
                  <a:srgbClr val="0A1931"/>
                </a:solidFill>
                <a:latin typeface="Arial"/>
              </a:defRPr>
            </a:pPr>
            <a:r>
              <a:t>Das ist kein Bauchladen. Es ist eine klare Stufenlogik.</a:t>
            </a:r>
          </a:p>
        </p:txBody>
      </p:sp>
      <p:pic>
        <p:nvPicPr>
          <p:cNvPr id="18" name="Picture 17" descr="neuratex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188720" cy="71188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9144000" cy="254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947"/>
                </a:solidFill>
                <a:latin typeface="Arial"/>
              </a:defRPr>
            </a:pPr>
            <a:r>
              <a:t>WARUM JETZT SINNVOLL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Timing ist gerade ideal</a:t>
            </a:r>
          </a:p>
        </p:txBody>
      </p:sp>
      <p:sp>
        <p:nvSpPr>
          <p:cNvPr id="4" name="Oval 3"/>
          <p:cNvSpPr/>
          <p:nvPr/>
        </p:nvSpPr>
        <p:spPr>
          <a:xfrm>
            <a:off x="365760" y="1737360"/>
            <a:ext cx="411480" cy="411480"/>
          </a:xfrm>
          <a:prstGeom prst="ellipse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1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Neue ERP-/CRM-Einführungen erhöhen Sichtbarkeit von Datenproblemen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2377439"/>
            <a:ext cx="411480" cy="411480"/>
          </a:xfrm>
          <a:prstGeom prst="ellipse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1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50591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Ohne saubere Dokumentbasis werden neue Systeme langsamer akzeptiert</a:t>
            </a:r>
          </a:p>
        </p:txBody>
      </p:sp>
      <p:sp>
        <p:nvSpPr>
          <p:cNvPr id="8" name="Oval 7"/>
          <p:cNvSpPr/>
          <p:nvPr/>
        </p:nvSpPr>
        <p:spPr>
          <a:xfrm>
            <a:off x="365760" y="3017520"/>
            <a:ext cx="411480" cy="411480"/>
          </a:xfrm>
          <a:prstGeom prst="ellipse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1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Wissensverlust durch Renteneintritte ist planbar, aber oft unvorbereitet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3657600"/>
            <a:ext cx="411480" cy="411480"/>
          </a:xfrm>
          <a:prstGeom prst="ellipse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1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307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Service-Anfragen steigen, während Fachkräfte knapp sind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9377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defRPr sz="1700" b="1">
                <a:solidFill>
                  <a:srgbClr val="0A1931"/>
                </a:solidFill>
                <a:latin typeface="Arial"/>
              </a:defRPr>
            </a:pPr>
            <a:r>
              <a:t>Ein neues System ohne nutzbares Wissen ist wie</a:t>
            </a:r>
            <a:br/>
            <a:r>
              <a:t>ein neues Lager ohne Beschriftung.</a:t>
            </a:r>
          </a:p>
        </p:txBody>
      </p:sp>
      <p:pic>
        <p:nvPicPr>
          <p:cNvPr id="13" name="Picture 12" descr="neuratex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188720" cy="71188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446520"/>
            <a:ext cx="9144000" cy="254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947"/>
                </a:solidFill>
                <a:latin typeface="Arial"/>
              </a:defRPr>
            </a:pPr>
            <a:r>
              <a:t>VORGEHEN OHNE GROSSPROJEKT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Pragmatisch. Schrittweise. Messbar.</a:t>
            </a:r>
          </a:p>
        </p:txBody>
      </p:sp>
      <p:sp>
        <p:nvSpPr>
          <p:cNvPr id="4" name="Oval 3"/>
          <p:cNvSpPr/>
          <p:nvPr/>
        </p:nvSpPr>
        <p:spPr>
          <a:xfrm>
            <a:off x="365760" y="1737360"/>
            <a:ext cx="411480" cy="411480"/>
          </a:xfrm>
          <a:prstGeom prst="ellipse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1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FFC947"/>
                </a:solidFill>
                <a:latin typeface="Arial"/>
              </a:defRPr>
            </a:pPr>
            <a:r>
              <a:t>Machbarkeitscheck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An echten Unterlagen und echten Fragen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2468880"/>
            <a:ext cx="411480" cy="411480"/>
          </a:xfrm>
          <a:prstGeom prst="ellipse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1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FFC947"/>
                </a:solidFill>
                <a:latin typeface="Arial"/>
              </a:defRPr>
            </a:pPr>
            <a:r>
              <a:t>Kleines Paket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Mit sichtbarem Output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3200400"/>
            <a:ext cx="411480" cy="411480"/>
          </a:xfrm>
          <a:prstGeom prst="ellipse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1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FFC947"/>
                </a:solidFill>
                <a:latin typeface="Arial"/>
              </a:defRPr>
            </a:pPr>
            <a:r>
              <a:t>Skalierung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Auf weitere Fabrikate oder Dokumenttypen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3931920"/>
            <a:ext cx="411480" cy="411480"/>
          </a:xfrm>
          <a:prstGeom prst="ellipse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1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FFC947"/>
                </a:solidFill>
                <a:latin typeface="Arial"/>
              </a:defRPr>
            </a:pPr>
            <a:r>
              <a:t>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5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Optional in bestehende Systeme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9377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defRPr sz="1700" b="1">
                <a:solidFill>
                  <a:srgbClr val="0A1931"/>
                </a:solidFill>
                <a:latin typeface="Arial"/>
              </a:defRPr>
            </a:pPr>
            <a:r>
              <a:t>Wir beweisen Nutzen zuerst. Danach wird entschieden.</a:t>
            </a:r>
          </a:p>
        </p:txBody>
      </p:sp>
      <p:pic>
        <p:nvPicPr>
          <p:cNvPr id="17" name="Picture 16" descr="neuratex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188720" cy="71188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446520"/>
            <a:ext cx="9144000" cy="254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947"/>
                </a:solidFill>
                <a:latin typeface="Arial"/>
              </a:defRPr>
            </a:pPr>
            <a:r>
              <a:t>WAS WIR VON IHNEN BRAUCHEN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Minimaler Aufwand auf Kundenseite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Für den Start reichen: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320040" cy="320040"/>
          </a:xfrm>
          <a:prstGeom prst="round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1931"/>
                </a:solidFill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3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F8FAFC"/>
                </a:solidFill>
                <a:latin typeface="Arial"/>
              </a:defRPr>
            </a:pPr>
            <a:r>
              <a:t>2–5 Dokumente, die heute nerven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606039"/>
            <a:ext cx="320040" cy="320040"/>
          </a:xfrm>
          <a:prstGeom prst="round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1931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5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F8FAFC"/>
                </a:solidFill>
                <a:latin typeface="Arial"/>
              </a:defRPr>
            </a:pPr>
            <a:r>
              <a:t>3–10 typische Fragen aus dem Alltag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108959"/>
            <a:ext cx="320040" cy="320040"/>
          </a:xfrm>
          <a:prstGeom prst="round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A1931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7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F8FAFC"/>
                </a:solidFill>
                <a:latin typeface="Arial"/>
              </a:defRPr>
            </a:pPr>
            <a:r>
              <a:t>Ein Ansprechpartner aus Service oder Produktmanagement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3600" b="1">
                <a:solidFill>
                  <a:srgbClr val="FFC947"/>
                </a:solidFill>
                <a:latin typeface="Arial"/>
              </a:defRPr>
            </a:pPr>
            <a:r>
              <a:t>Das war's.</a:t>
            </a:r>
          </a:p>
        </p:txBody>
      </p:sp>
      <p:pic>
        <p:nvPicPr>
          <p:cNvPr id="12" name="Picture 11" descr="neuratex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188720" cy="71188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446520"/>
            <a:ext cx="9144000" cy="254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947"/>
                </a:solidFill>
                <a:latin typeface="Arial"/>
              </a:defRPr>
            </a:pPr>
            <a:r>
              <a:t>WAS SIE NACH KURZER ZEIT SEHEN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Konkrete Ergebnisse statt Folien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Beispielhafte Outcomes: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2103120"/>
            <a:ext cx="411480" cy="411480"/>
          </a:xfrm>
          <a:prstGeom prst="ellipse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1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F8FAFC"/>
                </a:solidFill>
                <a:latin typeface="Arial"/>
              </a:defRPr>
            </a:pPr>
            <a:r>
              <a:t>Dokumente, die wirklich auffindbar sind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2651760"/>
            <a:ext cx="411480" cy="411480"/>
          </a:xfrm>
          <a:prstGeom prst="ellipse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1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F8FAFC"/>
                </a:solidFill>
                <a:latin typeface="Arial"/>
              </a:defRPr>
            </a:pPr>
            <a:r>
              <a:t>Tabellen, die man direkt weiterverwenden kann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3200400"/>
            <a:ext cx="411480" cy="411480"/>
          </a:xfrm>
          <a:prstGeom prst="ellipse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1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735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F8FAFC"/>
                </a:solidFill>
                <a:latin typeface="Arial"/>
              </a:defRPr>
            </a:pPr>
            <a:r>
              <a:t>Erste Wissensfälle, die jeder findet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3749039"/>
            <a:ext cx="411480" cy="411480"/>
          </a:xfrm>
          <a:prstGeom prst="ellipse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1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22191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F8FAFC"/>
                </a:solidFill>
                <a:latin typeface="Arial"/>
              </a:defRPr>
            </a:pPr>
            <a:r>
              <a:t>Eine Such- oder Assistenzoberfläche, die im Alltag testbar ist</a:t>
            </a:r>
          </a:p>
        </p:txBody>
      </p:sp>
      <p:pic>
        <p:nvPicPr>
          <p:cNvPr id="13" name="Picture 12" descr="neuratex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188720" cy="71188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446520"/>
            <a:ext cx="9144000" cy="254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947"/>
                </a:solidFill>
                <a:latin typeface="Arial"/>
              </a:defRPr>
            </a:pPr>
            <a:r>
              <a:t>SICHERHEIT UND VERTRAULICHKEIT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Wenn Daten Betriebsgeheimnis sind, wird das mitgedacht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737360"/>
            <a:ext cx="2697480" cy="868680"/>
          </a:xfrm>
          <a:prstGeom prst="roundRect">
            <a:avLst/>
          </a:prstGeom>
          <a:solidFill>
            <a:srgbClr val="112240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Interne Nutzung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CBD5E1"/>
                </a:solidFill>
                <a:latin typeface="Arial"/>
              </a:defRPr>
            </a:pPr>
            <a:r>
              <a:t>Keine externe Weitergabe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737360"/>
            <a:ext cx="2697480" cy="868680"/>
          </a:xfrm>
          <a:prstGeom prst="roundRect">
            <a:avLst/>
          </a:prstGeom>
          <a:solidFill>
            <a:srgbClr val="112240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Zugriffsrechte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488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CBD5E1"/>
                </a:solidFill>
                <a:latin typeface="Arial"/>
              </a:defRPr>
            </a:pPr>
            <a:r>
              <a:t>Rollenbasierte Kontrolle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37360"/>
            <a:ext cx="2697480" cy="868680"/>
          </a:xfrm>
          <a:prstGeom prst="roundRect">
            <a:avLst/>
          </a:prstGeom>
          <a:solidFill>
            <a:srgbClr val="112240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9" y="182880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Transparenz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21488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CBD5E1"/>
                </a:solidFill>
                <a:latin typeface="Arial"/>
              </a:defRPr>
            </a:pPr>
            <a:r>
              <a:t>Quellen sind sichtbar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834640"/>
            <a:ext cx="2697480" cy="868680"/>
          </a:xfrm>
          <a:prstGeom prst="roundRect">
            <a:avLst/>
          </a:prstGeom>
          <a:solidFill>
            <a:srgbClr val="112240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9260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Keine Veröffentlichung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2461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CBD5E1"/>
                </a:solidFill>
                <a:latin typeface="Arial"/>
              </a:defRPr>
            </a:pPr>
            <a:r>
              <a:t>Inhalte bleiben geschützt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834640"/>
            <a:ext cx="2697480" cy="868680"/>
          </a:xfrm>
          <a:prstGeom prst="roundRect">
            <a:avLst/>
          </a:prstGeom>
          <a:solidFill>
            <a:srgbClr val="112240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29260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1">
                <a:solidFill>
                  <a:srgbClr val="FFC947"/>
                </a:solidFill>
                <a:latin typeface="Arial"/>
              </a:defRPr>
            </a:pPr>
            <a:r>
              <a:t>Klare Abgrenzung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2461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0">
                <a:solidFill>
                  <a:srgbClr val="CBD5E1"/>
                </a:solidFill>
                <a:latin typeface="Arial"/>
              </a:defRPr>
            </a:pPr>
            <a:r>
              <a:t>Was rein darf und was nicht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02336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defRPr sz="1700" b="1">
                <a:solidFill>
                  <a:srgbClr val="0A1931"/>
                </a:solidFill>
                <a:latin typeface="Arial"/>
              </a:defRPr>
            </a:pPr>
            <a:r>
              <a:t>Wissen soll verfügbar sein. Aber nur für die Richtigen.</a:t>
            </a:r>
          </a:p>
        </p:txBody>
      </p:sp>
      <p:pic>
        <p:nvPicPr>
          <p:cNvPr id="20" name="Picture 19" descr="neuratex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"/>
            <a:ext cx="1188720" cy="71188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46520"/>
            <a:ext cx="9144000" cy="254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09728" cy="18288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200" b="0">
                <a:solidFill>
                  <a:srgbClr val="CBD5E1"/>
                </a:solidFill>
                <a:latin typeface="Arial"/>
              </a:defRPr>
            </a:pPr>
            <a:r>
              <a:t>Wir ersetzen keine Menschen.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800" b="1">
                <a:solidFill>
                  <a:srgbClr val="FFC947"/>
                </a:solidFill>
                <a:latin typeface="Arial"/>
              </a:defRPr>
            </a:pPr>
            <a:r>
              <a:t>Wir ersetzen Sucharbeit,</a:t>
            </a:r>
            <a:br/>
            <a:r>
              <a:t>Unterbrechungen und</a:t>
            </a:r>
            <a:br/>
            <a:r>
              <a:t>Wissensverlust.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206240"/>
            <a:ext cx="3657600" cy="1463040"/>
          </a:xfrm>
          <a:prstGeom prst="roundRect">
            <a:avLst/>
          </a:prstGeom>
          <a:solidFill>
            <a:srgbClr val="112240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297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100" b="1">
                <a:solidFill>
                  <a:srgbClr val="FFC947"/>
                </a:solidFill>
                <a:latin typeface="Arial"/>
              </a:defRPr>
            </a:pPr>
            <a:r>
              <a:t>Kontakt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600" b="1">
                <a:solidFill>
                  <a:srgbClr val="F8FAFC"/>
                </a:solidFill>
                <a:latin typeface="Arial"/>
              </a:defRPr>
            </a:pPr>
            <a:r>
              <a:t>Philipp Koch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92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663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CBD5E1"/>
                </a:solidFill>
                <a:latin typeface="Arial"/>
              </a:defRPr>
            </a:pPr>
            <a:r>
              <a:t>philippkoch@neuratex.de</a:t>
            </a:r>
          </a:p>
        </p:txBody>
      </p:sp>
      <p:pic>
        <p:nvPicPr>
          <p:cNvPr id="10" name="Picture 9" descr="neuratex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474720"/>
            <a:ext cx="3657600" cy="219042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46520"/>
            <a:ext cx="9144000" cy="25400"/>
          </a:xfrm>
          <a:prstGeom prst="rect">
            <a:avLst/>
          </a:prstGeom>
          <a:solidFill>
            <a:srgbClr val="FFC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BD5E1"/>
                </a:solidFill>
                <a:latin typeface="Arial"/>
              </a:defRPr>
            </a:pPr>
            <a:r>
              <a:t>Neuratex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