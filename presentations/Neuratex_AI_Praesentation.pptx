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Ich helfe technischen Unternehmen dabei, Informationen schnell auffindbar zu machen, ohne ihre Systeme umzubauen.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 sz="2800" b="0">
                <a:solidFill>
                  <a:srgbClr val="CBD5E1"/>
                </a:solidFill>
                <a:latin typeface="Arial"/>
              </a:defRPr>
            </a:pPr>
            <a:r>
              <a:t>Wissen nutzbar machen.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 sz="2800" b="0">
                <a:solidFill>
                  <a:srgbClr val="CBD5E1"/>
                </a:solidFill>
                <a:latin typeface="Arial"/>
              </a:defRPr>
            </a:pPr>
            <a:r>
              <a:t>Suche eliminieren.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 sz="2800" b="0">
                <a:solidFill>
                  <a:srgbClr val="CBD5E1"/>
                </a:solidFill>
                <a:latin typeface="Arial"/>
              </a:defRPr>
            </a:pPr>
            <a:r>
              <a:t>Service beschleunigen.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1">
                <a:solidFill>
                  <a:srgbClr val="FFC947"/>
                </a:solidFill>
                <a:latin typeface="Arial"/>
              </a:defRPr>
            </a:pPr>
            <a:r>
              <a:t>Neuratex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 sz="2000" b="0">
                <a:solidFill>
                  <a:srgbClr val="CBD5E1"/>
                </a:solidFill>
                <a:latin typeface="Arial"/>
              </a:defRPr>
            </a:pPr>
            <a:r>
              <a:t>Philipp Koch</a:t>
            </a:r>
          </a:p>
        </p:txBody>
      </p:sp>
      <p:pic>
        <p:nvPicPr>
          <p:cNvPr id="7" name="Picture 6" descr="neuratex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71600"/>
            <a:ext cx="2286000" cy="136901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C947"/>
                </a:solidFill>
                <a:latin typeface="Arial"/>
              </a:defRPr>
            </a:pPr>
            <a:r>
              <a:t>DIE REALITÄT IN TECHNISCHEN UNTERNEHMEN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Arial"/>
              </a:defRPr>
            </a:pPr>
            <a:r>
              <a:t>Warum es heute oft unnötig langsam 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 sz="1600" b="1">
                <a:solidFill>
                  <a:srgbClr val="FFC947"/>
                </a:solidFill>
                <a:latin typeface="Arial"/>
              </a:defRPr>
            </a:pPr>
            <a:r>
              <a:t>Kritisches Wissen liegt verteilt in: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03120"/>
            <a:ext cx="3657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  <a:defRPr sz="1500">
                <a:solidFill>
                  <a:srgbClr val="CBD5E1"/>
                </a:solidFill>
                <a:latin typeface="Arial"/>
              </a:defRPr>
            </a:pPr>
            <a:r>
              <a:t>• PDFs und Scans</a:t>
            </a:r>
          </a:p>
          <a:p>
            <a:pPr>
              <a:lnSpc>
                <a:spcPct val="150000"/>
              </a:lnSpc>
              <a:spcAft>
                <a:spcPts val="800"/>
              </a:spcAft>
              <a:defRPr sz="1500">
                <a:solidFill>
                  <a:srgbClr val="CBD5E1"/>
                </a:solidFill>
                <a:latin typeface="Arial"/>
              </a:defRPr>
            </a:pPr>
            <a:r>
              <a:t>• Tabellen und Listen</a:t>
            </a:r>
          </a:p>
          <a:p>
            <a:pPr>
              <a:lnSpc>
                <a:spcPct val="150000"/>
              </a:lnSpc>
              <a:spcAft>
                <a:spcPts val="800"/>
              </a:spcAft>
              <a:defRPr sz="1500">
                <a:solidFill>
                  <a:srgbClr val="CBD5E1"/>
                </a:solidFill>
                <a:latin typeface="Arial"/>
              </a:defRPr>
            </a:pPr>
            <a:r>
              <a:t>• Zeichnungen und Katalogen</a:t>
            </a:r>
          </a:p>
          <a:p>
            <a:pPr>
              <a:lnSpc>
                <a:spcPct val="150000"/>
              </a:lnSpc>
              <a:spcAft>
                <a:spcPts val="800"/>
              </a:spcAft>
              <a:defRPr sz="1500">
                <a:solidFill>
                  <a:srgbClr val="CBD5E1"/>
                </a:solidFill>
                <a:latin typeface="Arial"/>
              </a:defRPr>
            </a:pPr>
            <a:r>
              <a:t>• E-Mails, Ordnern, SharePoint</a:t>
            </a:r>
          </a:p>
          <a:p>
            <a:pPr>
              <a:lnSpc>
                <a:spcPct val="150000"/>
              </a:lnSpc>
              <a:spcAft>
                <a:spcPts val="800"/>
              </a:spcAft>
              <a:defRPr sz="1500">
                <a:solidFill>
                  <a:srgbClr val="CBD5E1"/>
                </a:solidFill>
                <a:latin typeface="Arial"/>
              </a:defRPr>
            </a:pPr>
            <a:r>
              <a:t>• Köpfen einzelner Mitarbeiter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16459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 sz="1600" b="1">
                <a:solidFill>
                  <a:srgbClr val="FFC947"/>
                </a:solidFill>
                <a:latin typeface="Arial"/>
              </a:defRPr>
            </a:pPr>
            <a:r>
              <a:t>Das Ergebnis im Alltag: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2103120"/>
            <a:ext cx="4114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  <a:defRPr sz="1500">
                <a:solidFill>
                  <a:srgbClr val="CBD5E1"/>
                </a:solidFill>
                <a:latin typeface="Arial"/>
              </a:defRPr>
            </a:pPr>
            <a:r>
              <a:t>• Suchen statt arbeiten</a:t>
            </a:r>
          </a:p>
          <a:p>
            <a:pPr>
              <a:lnSpc>
                <a:spcPct val="150000"/>
              </a:lnSpc>
              <a:spcAft>
                <a:spcPts val="800"/>
              </a:spcAft>
              <a:defRPr sz="1500">
                <a:solidFill>
                  <a:srgbClr val="CBD5E1"/>
                </a:solidFill>
                <a:latin typeface="Arial"/>
              </a:defRPr>
            </a:pPr>
            <a:r>
              <a:t>• Rückfragen statt Lösungen</a:t>
            </a:r>
          </a:p>
          <a:p>
            <a:pPr>
              <a:lnSpc>
                <a:spcPct val="150000"/>
              </a:lnSpc>
              <a:spcAft>
                <a:spcPts val="800"/>
              </a:spcAft>
              <a:defRPr sz="1500">
                <a:solidFill>
                  <a:srgbClr val="CBD5E1"/>
                </a:solidFill>
                <a:latin typeface="Arial"/>
              </a:defRPr>
            </a:pPr>
            <a:r>
              <a:t>• Abhängigkeit von Schlüsselpersonen</a:t>
            </a:r>
          </a:p>
          <a:p>
            <a:pPr>
              <a:lnSpc>
                <a:spcPct val="150000"/>
              </a:lnSpc>
              <a:spcAft>
                <a:spcPts val="800"/>
              </a:spcAft>
              <a:defRPr sz="1500">
                <a:solidFill>
                  <a:srgbClr val="CBD5E1"/>
                </a:solidFill>
                <a:latin typeface="Arial"/>
              </a:defRPr>
            </a:pPr>
            <a:r>
              <a:t>• Lange Antwortzeiten im Service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5029200"/>
            <a:ext cx="8229600" cy="1097280"/>
          </a:xfrm>
          <a:prstGeom prst="roundRect">
            <a:avLst/>
          </a:prstGeom>
          <a:solidFill>
            <a:srgbClr val="FFC9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1000"/>
              </a:spcBef>
              <a:defRPr sz="1800" b="1">
                <a:solidFill>
                  <a:srgbClr val="0A1931"/>
                </a:solidFill>
                <a:latin typeface="Arial"/>
              </a:defRPr>
            </a:pPr>
            <a:r>
              <a:t>Wenn Information existiert, aber nicht auffindbar ist,</a:t>
            </a:r>
            <a:br/>
            <a:r>
              <a:t>ist sie wirtschaftlich wertlos.</a:t>
            </a:r>
          </a:p>
        </p:txBody>
      </p:sp>
      <p:pic>
        <p:nvPicPr>
          <p:cNvPr id="9" name="Picture 8" descr="neuratex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6126480"/>
            <a:ext cx="1097280" cy="65712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C947"/>
                </a:solidFill>
                <a:latin typeface="Arial"/>
              </a:defRPr>
            </a:pPr>
            <a:r>
              <a:t>WAS ES WIRKLICH KOSTET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Arial"/>
              </a:defRPr>
            </a:pPr>
            <a:r>
              <a:t>Zeitverlust ist nur die Oberfläche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 sz="1800" b="1">
                <a:solidFill>
                  <a:srgbClr val="FFC947"/>
                </a:solidFill>
                <a:latin typeface="Arial"/>
              </a:defRPr>
            </a:pPr>
            <a:r>
              <a:t>Direkte Kosten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03120"/>
            <a:ext cx="3840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  <a:defRPr sz="1500">
                <a:solidFill>
                  <a:srgbClr val="CBD5E1"/>
                </a:solidFill>
                <a:latin typeface="Arial"/>
              </a:defRPr>
            </a:pPr>
            <a:r>
              <a:t>• Suchzeit im Service und Vertrieb</a:t>
            </a:r>
          </a:p>
          <a:p>
            <a:pPr>
              <a:lnSpc>
                <a:spcPct val="150000"/>
              </a:lnSpc>
              <a:spcAft>
                <a:spcPts val="800"/>
              </a:spcAft>
              <a:defRPr sz="1500">
                <a:solidFill>
                  <a:srgbClr val="CBD5E1"/>
                </a:solidFill>
                <a:latin typeface="Arial"/>
              </a:defRPr>
            </a:pPr>
            <a:r>
              <a:t>• Unterbrechungen und Kontextwechsel</a:t>
            </a:r>
          </a:p>
          <a:p>
            <a:pPr>
              <a:lnSpc>
                <a:spcPct val="150000"/>
              </a:lnSpc>
              <a:spcAft>
                <a:spcPts val="800"/>
              </a:spcAft>
              <a:defRPr sz="1500">
                <a:solidFill>
                  <a:srgbClr val="CBD5E1"/>
                </a:solidFill>
                <a:latin typeface="Arial"/>
              </a:defRPr>
            </a:pPr>
            <a:r>
              <a:t>• Doppelte Arbeit durch wiederholte Recherche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16459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 sz="1800" b="1">
                <a:solidFill>
                  <a:srgbClr val="FFC947"/>
                </a:solidFill>
                <a:latin typeface="Arial"/>
              </a:defRPr>
            </a:pPr>
            <a:r>
              <a:t>Indirekte Kosten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2103120"/>
            <a:ext cx="4114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  <a:defRPr sz="1500">
                <a:solidFill>
                  <a:srgbClr val="CBD5E1"/>
                </a:solidFill>
                <a:latin typeface="Arial"/>
              </a:defRPr>
            </a:pPr>
            <a:r>
              <a:t>• Langsamer Kundenservice wirkt wie mangelnde Kompetenz</a:t>
            </a:r>
          </a:p>
          <a:p>
            <a:pPr>
              <a:lnSpc>
                <a:spcPct val="150000"/>
              </a:lnSpc>
              <a:spcAft>
                <a:spcPts val="800"/>
              </a:spcAft>
              <a:defRPr sz="1500">
                <a:solidFill>
                  <a:srgbClr val="CBD5E1"/>
                </a:solidFill>
                <a:latin typeface="Arial"/>
              </a:defRPr>
            </a:pPr>
            <a:r>
              <a:t>• Kunden springen ab oder bestellen woanders</a:t>
            </a:r>
          </a:p>
          <a:p>
            <a:pPr>
              <a:lnSpc>
                <a:spcPct val="150000"/>
              </a:lnSpc>
              <a:spcAft>
                <a:spcPts val="800"/>
              </a:spcAft>
              <a:defRPr sz="1500">
                <a:solidFill>
                  <a:srgbClr val="CBD5E1"/>
                </a:solidFill>
                <a:latin typeface="Arial"/>
              </a:defRPr>
            </a:pPr>
            <a:r>
              <a:t>• Experten werden zum Flaschenhals</a:t>
            </a:r>
          </a:p>
          <a:p>
            <a:pPr>
              <a:lnSpc>
                <a:spcPct val="150000"/>
              </a:lnSpc>
              <a:spcAft>
                <a:spcPts val="800"/>
              </a:spcAft>
              <a:defRPr sz="1500">
                <a:solidFill>
                  <a:srgbClr val="CBD5E1"/>
                </a:solidFill>
                <a:latin typeface="Arial"/>
              </a:defRPr>
            </a:pPr>
            <a:r>
              <a:t>• Einarbeitung dauert zu lange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5029200"/>
            <a:ext cx="8229600" cy="1097280"/>
          </a:xfrm>
          <a:prstGeom prst="roundRect">
            <a:avLst/>
          </a:prstGeom>
          <a:solidFill>
            <a:srgbClr val="FFC9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1000"/>
              </a:spcBef>
              <a:defRPr sz="1800" b="1">
                <a:solidFill>
                  <a:srgbClr val="0A1931"/>
                </a:solidFill>
                <a:latin typeface="Arial"/>
              </a:defRPr>
            </a:pPr>
            <a:r>
              <a:t>Wachstum scheitert selten an Nachfrage.</a:t>
            </a:r>
            <a:br/>
            <a:r>
              <a:t>Es scheitert an Zugriff auf Wissen.</a:t>
            </a:r>
          </a:p>
        </p:txBody>
      </p:sp>
      <p:pic>
        <p:nvPicPr>
          <p:cNvPr id="9" name="Picture 8" descr="neuratex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6126480"/>
            <a:ext cx="1097280" cy="65712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C947"/>
                </a:solidFill>
                <a:latin typeface="Arial"/>
              </a:defRPr>
            </a:pPr>
            <a:r>
              <a:t>WARUM KLASSISCHE ANSÄTZE NICHT REICHEN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Arial"/>
              </a:defRPr>
            </a:pPr>
            <a:r>
              <a:t>Warum Teams, SharePoint und Ablage</a:t>
            </a:r>
            <a:br/>
            <a:r>
              <a:t>allein das Problem nicht lösen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 sz="1800" b="1">
                <a:solidFill>
                  <a:srgbClr val="FFC947"/>
                </a:solidFill>
                <a:latin typeface="Arial"/>
              </a:defRPr>
            </a:pPr>
            <a:r>
              <a:t>Ablage ist nicht Zugriff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  <a:defRPr sz="1600">
                <a:solidFill>
                  <a:srgbClr val="CBD5E1"/>
                </a:solidFill>
                <a:latin typeface="Arial"/>
              </a:defRPr>
            </a:pPr>
            <a:r>
              <a:t>• Wer nicht weiß, wonach er suchen muss, findet nichts</a:t>
            </a:r>
          </a:p>
          <a:p>
            <a:pPr>
              <a:lnSpc>
                <a:spcPct val="150000"/>
              </a:lnSpc>
              <a:spcAft>
                <a:spcPts val="800"/>
              </a:spcAft>
              <a:defRPr sz="1600">
                <a:solidFill>
                  <a:srgbClr val="CBD5E1"/>
                </a:solidFill>
                <a:latin typeface="Arial"/>
              </a:defRPr>
            </a:pPr>
            <a:r>
              <a:t>• Gescannte Tabellen und Zeichnungen sind oft nicht zuverlässig durchsuchbar</a:t>
            </a:r>
          </a:p>
          <a:p>
            <a:pPr>
              <a:lnSpc>
                <a:spcPct val="150000"/>
              </a:lnSpc>
              <a:spcAft>
                <a:spcPts val="800"/>
              </a:spcAft>
              <a:defRPr sz="1600">
                <a:solidFill>
                  <a:srgbClr val="CBD5E1"/>
                </a:solidFill>
                <a:latin typeface="Arial"/>
              </a:defRPr>
            </a:pPr>
            <a:r>
              <a:t>• Wissen aus gelösten Fällen wird selten standardisiert festgehalten</a:t>
            </a:r>
          </a:p>
          <a:p>
            <a:pPr>
              <a:lnSpc>
                <a:spcPct val="150000"/>
              </a:lnSpc>
              <a:spcAft>
                <a:spcPts val="800"/>
              </a:spcAft>
              <a:defRPr sz="1600">
                <a:solidFill>
                  <a:srgbClr val="CBD5E1"/>
                </a:solidFill>
                <a:latin typeface="Arial"/>
              </a:defRPr>
            </a:pPr>
            <a:r>
              <a:t>• Ergebnisse landen in Chats, Telefonaten oder WhatsApp – und verschwinden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5029200"/>
            <a:ext cx="8229600" cy="1097280"/>
          </a:xfrm>
          <a:prstGeom prst="roundRect">
            <a:avLst/>
          </a:prstGeom>
          <a:solidFill>
            <a:srgbClr val="FFC9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1000"/>
              </a:spcBef>
              <a:defRPr sz="2000" b="1">
                <a:solidFill>
                  <a:srgbClr val="0A1931"/>
                </a:solidFill>
                <a:latin typeface="Arial"/>
              </a:defRPr>
            </a:pPr>
            <a:r>
              <a:t>Viele Unternehmen haben Speicher.</a:t>
            </a:r>
            <a:br/>
            <a:r>
              <a:t>Was fehlt, ist ein Gedächtnis.</a:t>
            </a:r>
          </a:p>
        </p:txBody>
      </p:sp>
      <p:pic>
        <p:nvPicPr>
          <p:cNvPr id="7" name="Picture 6" descr="neuratex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6126480"/>
            <a:ext cx="1097280" cy="65712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C947"/>
                </a:solidFill>
                <a:latin typeface="Arial"/>
              </a:defRPr>
            </a:pPr>
            <a:r>
              <a:t>WAS WIR KONKRET LIEFERN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Arial"/>
              </a:defRPr>
            </a:pPr>
            <a:r>
              <a:t>Keine Tool-Show. Konkrete Ergebnisse.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 sz="1800" b="0">
                <a:solidFill>
                  <a:srgbClr val="CBD5E1"/>
                </a:solidFill>
                <a:latin typeface="Arial"/>
              </a:defRPr>
            </a:pPr>
            <a:r>
              <a:t>Wir liefern drei Dinge, je nach Ausgangslage:</a:t>
            </a:r>
          </a:p>
        </p:txBody>
      </p:sp>
      <p:sp>
        <p:nvSpPr>
          <p:cNvPr id="5" name="Oval 4"/>
          <p:cNvSpPr/>
          <p:nvPr/>
        </p:nvSpPr>
        <p:spPr>
          <a:xfrm>
            <a:off x="457200" y="2194560"/>
            <a:ext cx="457200" cy="457200"/>
          </a:xfrm>
          <a:prstGeom prst="ellipse">
            <a:avLst/>
          </a:prstGeom>
          <a:solidFill>
            <a:srgbClr val="FFC9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0A1931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2860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 sz="2000" b="0">
                <a:solidFill>
                  <a:srgbClr val="F8FAFC"/>
                </a:solidFill>
                <a:latin typeface="Arial"/>
              </a:defRPr>
            </a:pPr>
            <a:r>
              <a:t>Dokumente werden nutzbar gemacht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2926080"/>
            <a:ext cx="457200" cy="457200"/>
          </a:xfrm>
          <a:prstGeom prst="ellipse">
            <a:avLst/>
          </a:prstGeom>
          <a:solidFill>
            <a:srgbClr val="FFC9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0A1931"/>
                </a:solidFill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0175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 sz="2000" b="0">
                <a:solidFill>
                  <a:srgbClr val="F8FAFC"/>
                </a:solidFill>
                <a:latin typeface="Arial"/>
              </a:defRPr>
            </a:pPr>
            <a:r>
              <a:t>Erfahrungswissen wird strukturiert gesichert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3657600"/>
            <a:ext cx="457200" cy="457200"/>
          </a:xfrm>
          <a:prstGeom prst="ellipse">
            <a:avLst/>
          </a:prstGeom>
          <a:solidFill>
            <a:srgbClr val="FFC9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0A1931"/>
                </a:solidFill>
              </a:defRPr>
            </a:pPr>
            <a: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749039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 sz="2000" b="0">
                <a:solidFill>
                  <a:srgbClr val="F8FAFC"/>
                </a:solidFill>
                <a:latin typeface="Arial"/>
              </a:defRPr>
            </a:pPr>
            <a:r>
              <a:t>Zugriff wird drastisch beschleunigt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029200"/>
            <a:ext cx="8229600" cy="1097280"/>
          </a:xfrm>
          <a:prstGeom prst="roundRect">
            <a:avLst/>
          </a:prstGeom>
          <a:solidFill>
            <a:srgbClr val="FFC9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1000"/>
              </a:spcBef>
              <a:defRPr sz="1800" b="1">
                <a:solidFill>
                  <a:srgbClr val="0A1931"/>
                </a:solidFill>
                <a:latin typeface="Arial"/>
              </a:defRPr>
            </a:pPr>
            <a:r>
              <a:t>Wir ersetzen keine Systeme.</a:t>
            </a:r>
            <a:br/>
            <a:r>
              <a:t>Wir bauen eine Zugriffsebene auf Ihren Bestand.</a:t>
            </a:r>
          </a:p>
        </p:txBody>
      </p:sp>
      <p:pic>
        <p:nvPicPr>
          <p:cNvPr id="12" name="Picture 11" descr="neuratex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6126480"/>
            <a:ext cx="1097280" cy="6571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C947"/>
                </a:solidFill>
                <a:latin typeface="Arial"/>
              </a:defRPr>
            </a:pPr>
            <a:r>
              <a:t>LÖSUNG 1: ALTUNTERLAGEN NUTZBAR MACHEN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Arial"/>
              </a:defRPr>
            </a:pPr>
            <a:r>
              <a:t>Von Scan-Chaos zu Arbeitsdaten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 sz="1600" b="1">
                <a:solidFill>
                  <a:srgbClr val="FFC947"/>
                </a:solidFill>
                <a:latin typeface="Arial"/>
              </a:defRPr>
            </a:pPr>
            <a:r>
              <a:t>Typische Inputs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20240"/>
            <a:ext cx="3657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  <a:defRPr sz="1400">
                <a:solidFill>
                  <a:srgbClr val="CBD5E1"/>
                </a:solidFill>
                <a:latin typeface="Arial"/>
              </a:defRPr>
            </a:pPr>
            <a:r>
              <a:t>• Gescannte Kataloge</a:t>
            </a:r>
          </a:p>
          <a:p>
            <a:pPr>
              <a:lnSpc>
                <a:spcPct val="150000"/>
              </a:lnSpc>
              <a:spcAft>
                <a:spcPts val="800"/>
              </a:spcAft>
              <a:defRPr sz="1400">
                <a:solidFill>
                  <a:srgbClr val="CBD5E1"/>
                </a:solidFill>
                <a:latin typeface="Arial"/>
              </a:defRPr>
            </a:pPr>
            <a:r>
              <a:t>• PDF-Tabellen</a:t>
            </a:r>
          </a:p>
          <a:p>
            <a:pPr>
              <a:lnSpc>
                <a:spcPct val="150000"/>
              </a:lnSpc>
              <a:spcAft>
                <a:spcPts val="800"/>
              </a:spcAft>
              <a:defRPr sz="1400">
                <a:solidFill>
                  <a:srgbClr val="CBD5E1"/>
                </a:solidFill>
                <a:latin typeface="Arial"/>
              </a:defRPr>
            </a:pPr>
            <a:r>
              <a:t>• Stücklisten</a:t>
            </a:r>
          </a:p>
          <a:p>
            <a:pPr>
              <a:lnSpc>
                <a:spcPct val="150000"/>
              </a:lnSpc>
              <a:spcAft>
                <a:spcPts val="800"/>
              </a:spcAft>
              <a:defRPr sz="1400">
                <a:solidFill>
                  <a:srgbClr val="CBD5E1"/>
                </a:solidFill>
                <a:latin typeface="Arial"/>
              </a:defRPr>
            </a:pPr>
            <a:r>
              <a:t>• Kennlinien</a:t>
            </a:r>
          </a:p>
          <a:p>
            <a:pPr>
              <a:lnSpc>
                <a:spcPct val="150000"/>
              </a:lnSpc>
              <a:spcAft>
                <a:spcPts val="800"/>
              </a:spcAft>
              <a:defRPr sz="1400">
                <a:solidFill>
                  <a:srgbClr val="CBD5E1"/>
                </a:solidFill>
                <a:latin typeface="Arial"/>
              </a:defRPr>
            </a:pPr>
            <a:r>
              <a:t>• Ersatzteilseiten</a:t>
            </a:r>
          </a:p>
          <a:p>
            <a:pPr>
              <a:lnSpc>
                <a:spcPct val="150000"/>
              </a:lnSpc>
              <a:spcAft>
                <a:spcPts val="800"/>
              </a:spcAft>
              <a:defRPr sz="1400">
                <a:solidFill>
                  <a:srgbClr val="CBD5E1"/>
                </a:solidFill>
                <a:latin typeface="Arial"/>
              </a:defRPr>
            </a:pPr>
            <a:r>
              <a:t>• Zeichnungen mit Positionsnummern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15544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 sz="1600" b="1">
                <a:solidFill>
                  <a:srgbClr val="FFC947"/>
                </a:solidFill>
                <a:latin typeface="Arial"/>
              </a:defRPr>
            </a:pPr>
            <a:r>
              <a:t>Outputs, die im Alltag zählen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920240"/>
            <a:ext cx="4114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  <a:defRPr sz="1400">
                <a:solidFill>
                  <a:srgbClr val="CBD5E1"/>
                </a:solidFill>
                <a:latin typeface="Arial"/>
              </a:defRPr>
            </a:pPr>
            <a:r>
              <a:t>• Durchsuchbare Dokumente mit verlässlichen Treffern</a:t>
            </a:r>
          </a:p>
          <a:p>
            <a:pPr>
              <a:lnSpc>
                <a:spcPct val="150000"/>
              </a:lnSpc>
              <a:spcAft>
                <a:spcPts val="800"/>
              </a:spcAft>
              <a:defRPr sz="1400">
                <a:solidFill>
                  <a:srgbClr val="CBD5E1"/>
                </a:solidFill>
                <a:latin typeface="Arial"/>
              </a:defRPr>
            </a:pPr>
            <a:r>
              <a:t>• Saubere Tabellen als Excel oder CSV</a:t>
            </a:r>
          </a:p>
          <a:p>
            <a:pPr>
              <a:lnSpc>
                <a:spcPct val="150000"/>
              </a:lnSpc>
              <a:spcAft>
                <a:spcPts val="800"/>
              </a:spcAft>
              <a:defRPr sz="1400">
                <a:solidFill>
                  <a:srgbClr val="CBD5E1"/>
                </a:solidFill>
                <a:latin typeface="Arial"/>
              </a:defRPr>
            </a:pPr>
            <a:r>
              <a:t>• Importdaten für ERP oder Shop nach Vorgabe</a:t>
            </a:r>
          </a:p>
          <a:p>
            <a:pPr>
              <a:lnSpc>
                <a:spcPct val="150000"/>
              </a:lnSpc>
              <a:spcAft>
                <a:spcPts val="800"/>
              </a:spcAft>
              <a:defRPr sz="1400">
                <a:solidFill>
                  <a:srgbClr val="CBD5E1"/>
                </a:solidFill>
                <a:latin typeface="Arial"/>
              </a:defRPr>
            </a:pPr>
            <a:r>
              <a:t>• Strukturierte Daten mit klaren Feldern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5029200"/>
            <a:ext cx="8229600" cy="1188720"/>
          </a:xfrm>
          <a:prstGeom prst="roundRect">
            <a:avLst/>
          </a:prstGeom>
          <a:solidFill>
            <a:srgbClr val="FFC9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1000"/>
              </a:spcBef>
              <a:defRPr sz="1600" b="1">
                <a:solidFill>
                  <a:srgbClr val="0A1931"/>
                </a:solidFill>
                <a:latin typeface="Arial"/>
              </a:defRPr>
            </a:pPr>
            <a:r>
              <a:t>Es geht nicht um schöne Digitalisierung. Es geht darum, dass jemand</a:t>
            </a:r>
            <a:br/>
            <a:r>
              <a:t>in 30 Sekunden findet, was er heute in 15 Minuten sucht.</a:t>
            </a:r>
          </a:p>
        </p:txBody>
      </p:sp>
      <p:pic>
        <p:nvPicPr>
          <p:cNvPr id="9" name="Picture 8" descr="neuratex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6126480"/>
            <a:ext cx="1097280" cy="6571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C947"/>
                </a:solidFill>
                <a:latin typeface="Arial"/>
              </a:defRPr>
            </a:pPr>
            <a:r>
              <a:t>LÖSUNG 2: ERFAHRUNGSWISSEN SICHERN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Arial"/>
              </a:defRPr>
            </a:pPr>
            <a:r>
              <a:t>Wissen geht sonst in Rente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 sz="1600" b="1">
                <a:solidFill>
                  <a:srgbClr val="FFC947"/>
                </a:solidFill>
                <a:latin typeface="Arial"/>
              </a:defRPr>
            </a:pPr>
            <a:r>
              <a:t>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20240"/>
            <a:ext cx="3840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  <a:defRPr sz="1400">
                <a:solidFill>
                  <a:srgbClr val="CBD5E1"/>
                </a:solidFill>
                <a:latin typeface="Arial"/>
              </a:defRPr>
            </a:pPr>
            <a:r>
              <a:t>• Die Trefferquote hängt an Personen, nicht am System</a:t>
            </a:r>
          </a:p>
          <a:p>
            <a:pPr>
              <a:lnSpc>
                <a:spcPct val="150000"/>
              </a:lnSpc>
              <a:spcAft>
                <a:spcPts val="800"/>
              </a:spcAft>
              <a:defRPr sz="1400">
                <a:solidFill>
                  <a:srgbClr val="CBD5E1"/>
                </a:solidFill>
                <a:latin typeface="Arial"/>
              </a:defRPr>
            </a:pPr>
            <a:r>
              <a:t>• Viele Lösungen sind implizit und werden nie dokumentiert</a:t>
            </a:r>
          </a:p>
          <a:p>
            <a:pPr>
              <a:lnSpc>
                <a:spcPct val="150000"/>
              </a:lnSpc>
              <a:spcAft>
                <a:spcPts val="800"/>
              </a:spcAft>
              <a:defRPr sz="1400">
                <a:solidFill>
                  <a:srgbClr val="CBD5E1"/>
                </a:solidFill>
                <a:latin typeface="Arial"/>
              </a:defRPr>
            </a:pPr>
            <a:r>
              <a:t>• Neue Mitarbeiter müssen fragen statt handeln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15544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 sz="1600" b="1">
                <a:solidFill>
                  <a:srgbClr val="FFC947"/>
                </a:solidFill>
                <a:latin typeface="Arial"/>
              </a:defRPr>
            </a:pPr>
            <a:r>
              <a:t>Lösung: Schlanke Wissenslogik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92024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  <a:defRPr sz="1400">
                <a:solidFill>
                  <a:srgbClr val="CBD5E1"/>
                </a:solidFill>
                <a:latin typeface="Arial"/>
              </a:defRPr>
            </a:pPr>
            <a:r>
              <a:t>• Kurze Fallkarten statt Romane</a:t>
            </a:r>
          </a:p>
          <a:p>
            <a:pPr>
              <a:lnSpc>
                <a:spcPct val="150000"/>
              </a:lnSpc>
              <a:spcAft>
                <a:spcPts val="800"/>
              </a:spcAft>
              <a:defRPr sz="1400">
                <a:solidFill>
                  <a:srgbClr val="CBD5E1"/>
                </a:solidFill>
                <a:latin typeface="Arial"/>
              </a:defRPr>
            </a:pPr>
            <a:r>
              <a:t>• Maschine oder Baureihe</a:t>
            </a:r>
          </a:p>
          <a:p>
            <a:pPr>
              <a:lnSpc>
                <a:spcPct val="150000"/>
              </a:lnSpc>
              <a:spcAft>
                <a:spcPts val="800"/>
              </a:spcAft>
              <a:defRPr sz="1400">
                <a:solidFill>
                  <a:srgbClr val="CBD5E1"/>
                </a:solidFill>
                <a:latin typeface="Arial"/>
              </a:defRPr>
            </a:pPr>
            <a:r>
              <a:t>• Symptom oder Anfrage</a:t>
            </a:r>
          </a:p>
          <a:p>
            <a:pPr>
              <a:lnSpc>
                <a:spcPct val="150000"/>
              </a:lnSpc>
              <a:spcAft>
                <a:spcPts val="800"/>
              </a:spcAft>
              <a:defRPr sz="1400">
                <a:solidFill>
                  <a:srgbClr val="CBD5E1"/>
                </a:solidFill>
                <a:latin typeface="Arial"/>
              </a:defRPr>
            </a:pPr>
            <a:r>
              <a:t>• Lösungsschritte</a:t>
            </a:r>
          </a:p>
          <a:p>
            <a:pPr>
              <a:lnSpc>
                <a:spcPct val="150000"/>
              </a:lnSpc>
              <a:spcAft>
                <a:spcPts val="800"/>
              </a:spcAft>
              <a:defRPr sz="1400">
                <a:solidFill>
                  <a:srgbClr val="CBD5E1"/>
                </a:solidFill>
                <a:latin typeface="Arial"/>
              </a:defRPr>
            </a:pPr>
            <a:r>
              <a:t>• Teile und Hinweise</a:t>
            </a:r>
          </a:p>
          <a:p>
            <a:pPr>
              <a:lnSpc>
                <a:spcPct val="150000"/>
              </a:lnSpc>
              <a:spcAft>
                <a:spcPts val="800"/>
              </a:spcAft>
              <a:defRPr sz="1400">
                <a:solidFill>
                  <a:srgbClr val="CBD5E1"/>
                </a:solidFill>
                <a:latin typeface="Arial"/>
              </a:defRPr>
            </a:pPr>
            <a:r>
              <a:t>• Quelle oder Referenz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 sz="1600" b="1">
                <a:solidFill>
                  <a:srgbClr val="FFC947"/>
                </a:solidFill>
                <a:latin typeface="Arial"/>
              </a:defRPr>
            </a:pPr>
            <a:r>
              <a:t>Ergebnis: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 sz="1500" b="0">
                <a:solidFill>
                  <a:srgbClr val="CBD5E1"/>
                </a:solidFill>
                <a:latin typeface="Arial"/>
              </a:defRPr>
            </a:pPr>
            <a:r>
              <a:t>Wissen bleibt im Unternehmen • Einarbeitung wird schneller • Qualität wird stabiler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5029200"/>
            <a:ext cx="8229600" cy="1097280"/>
          </a:xfrm>
          <a:prstGeom prst="roundRect">
            <a:avLst/>
          </a:prstGeom>
          <a:solidFill>
            <a:srgbClr val="FFC9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1000"/>
              </a:spcBef>
              <a:defRPr sz="2000" b="1">
                <a:solidFill>
                  <a:srgbClr val="0A1931"/>
                </a:solidFill>
                <a:latin typeface="Arial"/>
              </a:defRPr>
            </a:pPr>
            <a:r>
              <a:t>Gute Leute sollen Probleme lösen.</a:t>
            </a:r>
            <a:br/>
            <a:r>
              <a:t>Nicht Wissen wiederfinden.</a:t>
            </a:r>
          </a:p>
        </p:txBody>
      </p:sp>
      <p:pic>
        <p:nvPicPr>
          <p:cNvPr id="11" name="Picture 10" descr="neuratex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6126480"/>
            <a:ext cx="1097280" cy="65712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C947"/>
                </a:solidFill>
                <a:latin typeface="Arial"/>
              </a:defRPr>
            </a:pPr>
            <a:r>
              <a:t>LÖSUNG 3: INTERNES ASSISTENZSYSTEM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Arial"/>
              </a:defRPr>
            </a:pPr>
            <a:r>
              <a:t>Schnelle Antworten aus den eigenen Quellen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 sz="1600" b="1">
                <a:solidFill>
                  <a:srgbClr val="FFC947"/>
                </a:solidFill>
                <a:latin typeface="Arial"/>
              </a:defRPr>
            </a:pPr>
            <a:r>
              <a:t>Was es 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20240"/>
            <a:ext cx="3840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 sz="1400" b="0">
                <a:solidFill>
                  <a:srgbClr val="CBD5E1"/>
                </a:solidFill>
                <a:latin typeface="Arial"/>
              </a:defRPr>
            </a:pPr>
            <a:r>
              <a:t>Ein internes System für Service und Vertrieb, das Fragen beantwortet – auf Basis Ihrer eigenen Dokumente und Wissensfälle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1752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 sz="1600" b="1">
                <a:solidFill>
                  <a:srgbClr val="FFC947"/>
                </a:solidFill>
                <a:latin typeface="Arial"/>
              </a:defRPr>
            </a:pPr>
            <a:r>
              <a:t>Was es nicht 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383280"/>
            <a:ext cx="3840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  <a:defRPr sz="1400">
                <a:solidFill>
                  <a:srgbClr val="CBD5E1"/>
                </a:solidFill>
                <a:latin typeface="Arial"/>
              </a:defRPr>
            </a:pPr>
            <a:r>
              <a:t>• Kein Endkundentool</a:t>
            </a:r>
          </a:p>
          <a:p>
            <a:pPr>
              <a:lnSpc>
                <a:spcPct val="150000"/>
              </a:lnSpc>
              <a:spcAft>
                <a:spcPts val="800"/>
              </a:spcAft>
              <a:defRPr sz="1400">
                <a:solidFill>
                  <a:srgbClr val="CBD5E1"/>
                </a:solidFill>
                <a:latin typeface="Arial"/>
              </a:defRPr>
            </a:pPr>
            <a:r>
              <a:t>• Kein Chatbot ohne Nachweise</a:t>
            </a:r>
          </a:p>
          <a:p>
            <a:pPr>
              <a:lnSpc>
                <a:spcPct val="150000"/>
              </a:lnSpc>
              <a:spcAft>
                <a:spcPts val="800"/>
              </a:spcAft>
              <a:defRPr sz="1400">
                <a:solidFill>
                  <a:srgbClr val="CBD5E1"/>
                </a:solidFill>
                <a:latin typeface="Arial"/>
              </a:defRPr>
            </a:pPr>
            <a:r>
              <a:t>• Keine Fantasie-Antworten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5544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 sz="1600" b="1">
                <a:solidFill>
                  <a:srgbClr val="FFC947"/>
                </a:solidFill>
                <a:latin typeface="Arial"/>
              </a:defRPr>
            </a:pPr>
            <a:r>
              <a:t>Wie es Vertrauen schafft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1920240"/>
            <a:ext cx="4114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  <a:defRPr sz="1400">
                <a:solidFill>
                  <a:srgbClr val="CBD5E1"/>
                </a:solidFill>
                <a:latin typeface="Arial"/>
              </a:defRPr>
            </a:pPr>
            <a:r>
              <a:t>• Antworten mit Quellenbezug</a:t>
            </a:r>
          </a:p>
          <a:p>
            <a:pPr>
              <a:lnSpc>
                <a:spcPct val="150000"/>
              </a:lnSpc>
              <a:spcAft>
                <a:spcPts val="800"/>
              </a:spcAft>
              <a:defRPr sz="1400">
                <a:solidFill>
                  <a:srgbClr val="CBD5E1"/>
                </a:solidFill>
                <a:latin typeface="Arial"/>
              </a:defRPr>
            </a:pPr>
            <a:r>
              <a:t>• Verlinkung zur Originalstelle</a:t>
            </a:r>
          </a:p>
          <a:p>
            <a:pPr>
              <a:lnSpc>
                <a:spcPct val="150000"/>
              </a:lnSpc>
              <a:spcAft>
                <a:spcPts val="800"/>
              </a:spcAft>
              <a:defRPr sz="1400">
                <a:solidFill>
                  <a:srgbClr val="CBD5E1"/>
                </a:solidFill>
                <a:latin typeface="Arial"/>
              </a:defRPr>
            </a:pPr>
            <a:r>
              <a:t>• Nachvollziehbar für den Mitarbeiter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32004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 sz="1600" b="1">
                <a:solidFill>
                  <a:srgbClr val="FFC947"/>
                </a:solidFill>
                <a:latin typeface="Arial"/>
              </a:defRPr>
            </a:pPr>
            <a:r>
              <a:t>Ergebnis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3566160"/>
            <a:ext cx="4114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  <a:defRPr sz="1400">
                <a:solidFill>
                  <a:srgbClr val="CBD5E1"/>
                </a:solidFill>
                <a:latin typeface="Arial"/>
              </a:defRPr>
            </a:pPr>
            <a:r>
              <a:t>• Minuten statt Viertelstunden</a:t>
            </a:r>
          </a:p>
          <a:p>
            <a:pPr>
              <a:lnSpc>
                <a:spcPct val="150000"/>
              </a:lnSpc>
              <a:spcAft>
                <a:spcPts val="800"/>
              </a:spcAft>
              <a:defRPr sz="1400">
                <a:solidFill>
                  <a:srgbClr val="CBD5E1"/>
                </a:solidFill>
                <a:latin typeface="Arial"/>
              </a:defRPr>
            </a:pPr>
            <a:r>
              <a:t>• Weniger interne Rückfragen</a:t>
            </a:r>
          </a:p>
          <a:p>
            <a:pPr>
              <a:lnSpc>
                <a:spcPct val="150000"/>
              </a:lnSpc>
              <a:spcAft>
                <a:spcPts val="800"/>
              </a:spcAft>
              <a:defRPr sz="1400">
                <a:solidFill>
                  <a:srgbClr val="CBD5E1"/>
                </a:solidFill>
                <a:latin typeface="Arial"/>
              </a:defRPr>
            </a:pPr>
            <a:r>
              <a:t>• Experten werden entlastet</a:t>
            </a:r>
          </a:p>
        </p:txBody>
      </p:sp>
      <p:pic>
        <p:nvPicPr>
          <p:cNvPr id="12" name="Picture 11" descr="neuratex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6126480"/>
            <a:ext cx="1097280" cy="65712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C947"/>
                </a:solidFill>
                <a:latin typeface="Arial"/>
              </a:defRPr>
            </a:pPr>
            <a:r>
              <a:t>SO VERBINDEN SICH DIE DREI LÖSUNGEN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Arial"/>
              </a:defRPr>
            </a:pPr>
            <a:r>
              <a:t>Ein System. Drei Einstiegspunkte.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2560320" cy="1097280"/>
          </a:xfrm>
          <a:prstGeom prst="roundRect">
            <a:avLst/>
          </a:prstGeom>
          <a:solidFill>
            <a:srgbClr val="112240"/>
          </a:solidFill>
          <a:ln w="25400">
            <a:solidFill>
              <a:srgbClr val="FFC9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 sz="1800" b="1">
                <a:solidFill>
                  <a:srgbClr val="FFC947"/>
                </a:solidFill>
                <a:latin typeface="Arial"/>
              </a:defRPr>
            </a:pPr>
            <a:r>
              <a:t>Dokumente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945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 sz="1400" b="0">
                <a:solidFill>
                  <a:srgbClr val="CBD5E1"/>
                </a:solidFill>
                <a:latin typeface="Arial"/>
              </a:defRPr>
            </a:pPr>
            <a:r>
              <a:t>sind die Basis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0" y="1645920"/>
            <a:ext cx="2560320" cy="1097280"/>
          </a:xfrm>
          <a:prstGeom prst="roundRect">
            <a:avLst/>
          </a:prstGeom>
          <a:solidFill>
            <a:srgbClr val="112240"/>
          </a:solidFill>
          <a:ln w="25400">
            <a:solidFill>
              <a:srgbClr val="FFC9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8288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 sz="1800" b="1">
                <a:solidFill>
                  <a:srgbClr val="FFC947"/>
                </a:solidFill>
                <a:latin typeface="Arial"/>
              </a:defRPr>
            </a:pPr>
            <a:r>
              <a:t>Erfahrungswissen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21945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 sz="1400" b="0">
                <a:solidFill>
                  <a:srgbClr val="CBD5E1"/>
                </a:solidFill>
                <a:latin typeface="Arial"/>
              </a:defRPr>
            </a:pPr>
            <a:r>
              <a:t>macht es praxisnah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0" y="1645920"/>
            <a:ext cx="2560320" cy="1097280"/>
          </a:xfrm>
          <a:prstGeom prst="roundRect">
            <a:avLst/>
          </a:prstGeom>
          <a:solidFill>
            <a:srgbClr val="112240"/>
          </a:solidFill>
          <a:ln w="25400">
            <a:solidFill>
              <a:srgbClr val="FFC9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18288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 sz="1800" b="1">
                <a:solidFill>
                  <a:srgbClr val="FFC947"/>
                </a:solidFill>
                <a:latin typeface="Arial"/>
              </a:defRPr>
            </a:pPr>
            <a:r>
              <a:t>Assistenz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1945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 sz="1400" b="0">
                <a:solidFill>
                  <a:srgbClr val="CBD5E1"/>
                </a:solidFill>
                <a:latin typeface="Arial"/>
              </a:defRPr>
            </a:pPr>
            <a:r>
              <a:t>macht den Zugriff schnell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017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 sz="1600" b="1">
                <a:solidFill>
                  <a:srgbClr val="F8FAFC"/>
                </a:solidFill>
                <a:latin typeface="Arial"/>
              </a:defRPr>
            </a:pPr>
            <a:r>
              <a:t>Man kann starten mit: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383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  <a:defRPr sz="1500">
                <a:solidFill>
                  <a:srgbClr val="CBD5E1"/>
                </a:solidFill>
                <a:latin typeface="Arial"/>
              </a:defRPr>
            </a:pPr>
            <a:r>
              <a:t>• Altunterlagen, wenn Dokumentchaos dominiert</a:t>
            </a:r>
          </a:p>
          <a:p>
            <a:pPr>
              <a:lnSpc>
                <a:spcPct val="150000"/>
              </a:lnSpc>
              <a:spcAft>
                <a:spcPts val="800"/>
              </a:spcAft>
              <a:defRPr sz="1500">
                <a:solidFill>
                  <a:srgbClr val="CBD5E1"/>
                </a:solidFill>
                <a:latin typeface="Arial"/>
              </a:defRPr>
            </a:pPr>
            <a:r>
              <a:t>• Wissensfällen, wenn Experten Engpass sind</a:t>
            </a:r>
          </a:p>
          <a:p>
            <a:pPr>
              <a:lnSpc>
                <a:spcPct val="150000"/>
              </a:lnSpc>
              <a:spcAft>
                <a:spcPts val="800"/>
              </a:spcAft>
              <a:defRPr sz="1500">
                <a:solidFill>
                  <a:srgbClr val="CBD5E1"/>
                </a:solidFill>
                <a:latin typeface="Arial"/>
              </a:defRPr>
            </a:pPr>
            <a:r>
              <a:t>• Assistenz, wenn Suche im Alltag Zeit frisst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5303520"/>
            <a:ext cx="8229600" cy="822960"/>
          </a:xfrm>
          <a:prstGeom prst="roundRect">
            <a:avLst/>
          </a:prstGeom>
          <a:solidFill>
            <a:srgbClr val="FFC9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1000"/>
              </a:spcBef>
              <a:defRPr sz="1800" b="1">
                <a:solidFill>
                  <a:srgbClr val="0A1931"/>
                </a:solidFill>
                <a:latin typeface="Arial"/>
              </a:defRPr>
            </a:pPr>
            <a:r>
              <a:t>Das ist kein Bauchladen. Es ist eine klare Stufenlogik.</a:t>
            </a:r>
          </a:p>
        </p:txBody>
      </p:sp>
      <p:pic>
        <p:nvPicPr>
          <p:cNvPr id="16" name="Picture 15" descr="neuratex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6126480"/>
            <a:ext cx="1097280" cy="65712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C947"/>
                </a:solidFill>
                <a:latin typeface="Arial"/>
              </a:defRPr>
            </a:pPr>
            <a:r>
              <a:t>WARUM JETZT SINNVOLL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Arial"/>
              </a:defRPr>
            </a:pPr>
            <a:r>
              <a:t>Timing in vielen Unternehmen ist gerade ideal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3736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  <a:defRPr sz="1700">
                <a:solidFill>
                  <a:srgbClr val="CBD5E1"/>
                </a:solidFill>
                <a:latin typeface="Arial"/>
              </a:defRPr>
            </a:pPr>
            <a:r>
              <a:t>• Neue ERP- oder CRM-Einführungen erhöhen die Sichtbarkeit von Datenproblemen</a:t>
            </a:r>
          </a:p>
          <a:p>
            <a:pPr>
              <a:lnSpc>
                <a:spcPct val="150000"/>
              </a:lnSpc>
              <a:spcAft>
                <a:spcPts val="800"/>
              </a:spcAft>
              <a:defRPr sz="1700">
                <a:solidFill>
                  <a:srgbClr val="CBD5E1"/>
                </a:solidFill>
                <a:latin typeface="Arial"/>
              </a:defRPr>
            </a:pPr>
            <a:r>
              <a:t>• Ohne saubere Dokumentbasis werden neue Systeme langsamer akzeptiert</a:t>
            </a:r>
          </a:p>
          <a:p>
            <a:pPr>
              <a:lnSpc>
                <a:spcPct val="150000"/>
              </a:lnSpc>
              <a:spcAft>
                <a:spcPts val="800"/>
              </a:spcAft>
              <a:defRPr sz="1700">
                <a:solidFill>
                  <a:srgbClr val="CBD5E1"/>
                </a:solidFill>
                <a:latin typeface="Arial"/>
              </a:defRPr>
            </a:pPr>
            <a:r>
              <a:t>• Wissensverlust durch Renteneintritte ist planbar, aber oft unvorbereitet</a:t>
            </a:r>
          </a:p>
          <a:p>
            <a:pPr>
              <a:lnSpc>
                <a:spcPct val="150000"/>
              </a:lnSpc>
              <a:spcAft>
                <a:spcPts val="800"/>
              </a:spcAft>
              <a:defRPr sz="1700">
                <a:solidFill>
                  <a:srgbClr val="CBD5E1"/>
                </a:solidFill>
                <a:latin typeface="Arial"/>
              </a:defRPr>
            </a:pPr>
            <a:r>
              <a:t>• Service-Anfragen steigen, während Fachkräfte knapp sind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5029200"/>
            <a:ext cx="8229600" cy="1097280"/>
          </a:xfrm>
          <a:prstGeom prst="roundRect">
            <a:avLst/>
          </a:prstGeom>
          <a:solidFill>
            <a:srgbClr val="FFC9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1000"/>
              </a:spcBef>
              <a:defRPr sz="1800" b="1">
                <a:solidFill>
                  <a:srgbClr val="0A1931"/>
                </a:solidFill>
                <a:latin typeface="Arial"/>
              </a:defRPr>
            </a:pPr>
            <a:r>
              <a:t>Ein neues System ohne nutzbares Wissen ist wie</a:t>
            </a:r>
            <a:br/>
            <a:r>
              <a:t>ein neues Lager ohne Beschriftung.</a:t>
            </a:r>
          </a:p>
        </p:txBody>
      </p:sp>
      <p:pic>
        <p:nvPicPr>
          <p:cNvPr id="6" name="Picture 5" descr="neuratex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6126480"/>
            <a:ext cx="1097280" cy="65712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C947"/>
                </a:solidFill>
                <a:latin typeface="Arial"/>
              </a:defRPr>
            </a:pPr>
            <a:r>
              <a:t>VORGEHEN OHNE GROSSPROJEKT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Arial"/>
              </a:defRPr>
            </a:pPr>
            <a:r>
              <a:t>Pragmatisch. Schrittweise. Messbar.</a:t>
            </a:r>
          </a:p>
        </p:txBody>
      </p:sp>
      <p:sp>
        <p:nvSpPr>
          <p:cNvPr id="4" name="Oval 3"/>
          <p:cNvSpPr/>
          <p:nvPr/>
        </p:nvSpPr>
        <p:spPr>
          <a:xfrm>
            <a:off x="457200" y="1828800"/>
            <a:ext cx="457200" cy="457200"/>
          </a:xfrm>
          <a:prstGeom prst="ellipse">
            <a:avLst/>
          </a:prstGeom>
          <a:solidFill>
            <a:srgbClr val="FFC9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0A1931"/>
                </a:solidFill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 sz="1700" b="0">
                <a:solidFill>
                  <a:srgbClr val="CBD5E1"/>
                </a:solidFill>
                <a:latin typeface="Arial"/>
              </a:defRPr>
            </a:pPr>
            <a:r>
              <a:t>Machbarkeitscheck an echten Unterlagen und echten Fragen</a:t>
            </a:r>
          </a:p>
        </p:txBody>
      </p:sp>
      <p:sp>
        <p:nvSpPr>
          <p:cNvPr id="6" name="Oval 5"/>
          <p:cNvSpPr/>
          <p:nvPr/>
        </p:nvSpPr>
        <p:spPr>
          <a:xfrm>
            <a:off x="457200" y="2514600"/>
            <a:ext cx="457200" cy="457200"/>
          </a:xfrm>
          <a:prstGeom prst="ellipse">
            <a:avLst/>
          </a:prstGeom>
          <a:solidFill>
            <a:srgbClr val="FFC9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0A1931"/>
                </a:solidFill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6060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 sz="1700" b="0">
                <a:solidFill>
                  <a:srgbClr val="CBD5E1"/>
                </a:solidFill>
                <a:latin typeface="Arial"/>
              </a:defRPr>
            </a:pPr>
            <a:r>
              <a:t>Kleines Paket mit sichtbarem Output</a:t>
            </a:r>
          </a:p>
        </p:txBody>
      </p:sp>
      <p:sp>
        <p:nvSpPr>
          <p:cNvPr id="8" name="Oval 7"/>
          <p:cNvSpPr/>
          <p:nvPr/>
        </p:nvSpPr>
        <p:spPr>
          <a:xfrm>
            <a:off x="457200" y="3200400"/>
            <a:ext cx="457200" cy="457200"/>
          </a:xfrm>
          <a:prstGeom prst="ellipse">
            <a:avLst/>
          </a:prstGeom>
          <a:solidFill>
            <a:srgbClr val="FFC9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0A1931"/>
                </a:solidFill>
              </a:defRPr>
            </a:pPr>
            <a: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2918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 sz="1700" b="0">
                <a:solidFill>
                  <a:srgbClr val="CBD5E1"/>
                </a:solidFill>
                <a:latin typeface="Arial"/>
              </a:defRPr>
            </a:pPr>
            <a:r>
              <a:t>Skalierung auf weitere Fabrikate oder Dokumenttypen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3886200"/>
            <a:ext cx="457200" cy="457200"/>
          </a:xfrm>
          <a:prstGeom prst="ellipse">
            <a:avLst/>
          </a:prstGeom>
          <a:solidFill>
            <a:srgbClr val="FFC9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0A1931"/>
                </a:solidFill>
              </a:defRPr>
            </a:pPr>
            <a: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977639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 sz="1700" b="0">
                <a:solidFill>
                  <a:srgbClr val="CBD5E1"/>
                </a:solidFill>
                <a:latin typeface="Arial"/>
              </a:defRPr>
            </a:pPr>
            <a:r>
              <a:t>Optional: Integration in bestehende Systeme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5029200"/>
            <a:ext cx="8229600" cy="822960"/>
          </a:xfrm>
          <a:prstGeom prst="roundRect">
            <a:avLst/>
          </a:prstGeom>
          <a:solidFill>
            <a:srgbClr val="FFC9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1000"/>
              </a:spcBef>
              <a:defRPr sz="1800" b="1">
                <a:solidFill>
                  <a:srgbClr val="0A1931"/>
                </a:solidFill>
                <a:latin typeface="Arial"/>
              </a:defRPr>
            </a:pPr>
            <a:r>
              <a:t>Wir beweisen Nutzen zuerst. Danach wird entschieden.</a:t>
            </a:r>
          </a:p>
        </p:txBody>
      </p:sp>
      <p:pic>
        <p:nvPicPr>
          <p:cNvPr id="13" name="Picture 12" descr="neuratex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6126480"/>
            <a:ext cx="1097280" cy="65712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C947"/>
                </a:solidFill>
                <a:latin typeface="Arial"/>
              </a:defRPr>
            </a:pPr>
            <a:r>
              <a:t>WAS WIR VON IHNEN BRAUCHEN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Arial"/>
              </a:defRPr>
            </a:pPr>
            <a:r>
              <a:t>Minimaler Aufwand auf Kundenseite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37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 sz="1800" b="1">
                <a:solidFill>
                  <a:srgbClr val="FFC947"/>
                </a:solidFill>
                <a:latin typeface="Arial"/>
              </a:defRPr>
            </a:pPr>
            <a:r>
              <a:t>Für den Start reichen: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  <a:defRPr sz="2000">
                <a:solidFill>
                  <a:srgbClr val="CBD5E1"/>
                </a:solidFill>
                <a:latin typeface="Arial"/>
              </a:defRPr>
            </a:pPr>
            <a:r>
              <a:t>• 2 bis 5 Dokumente, die heute nerven</a:t>
            </a:r>
          </a:p>
          <a:p>
            <a:pPr>
              <a:lnSpc>
                <a:spcPct val="150000"/>
              </a:lnSpc>
              <a:spcAft>
                <a:spcPts val="800"/>
              </a:spcAft>
              <a:defRPr sz="2000">
                <a:solidFill>
                  <a:srgbClr val="CBD5E1"/>
                </a:solidFill>
                <a:latin typeface="Arial"/>
              </a:defRPr>
            </a:pPr>
            <a:r>
              <a:t>• 3 bis 10 typische Fragen aus dem Alltag</a:t>
            </a:r>
          </a:p>
          <a:p>
            <a:pPr>
              <a:lnSpc>
                <a:spcPct val="150000"/>
              </a:lnSpc>
              <a:spcAft>
                <a:spcPts val="800"/>
              </a:spcAft>
              <a:defRPr sz="2000">
                <a:solidFill>
                  <a:srgbClr val="CBD5E1"/>
                </a:solidFill>
                <a:latin typeface="Arial"/>
              </a:defRPr>
            </a:pPr>
            <a:r>
              <a:t>• Ein Ansprechpartner aus Service oder Produktmanagement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C947"/>
                </a:solidFill>
                <a:latin typeface="Arial"/>
              </a:defRPr>
            </a:pPr>
            <a:r>
              <a:t>Das war's.</a:t>
            </a:r>
          </a:p>
        </p:txBody>
      </p:sp>
      <p:pic>
        <p:nvPicPr>
          <p:cNvPr id="7" name="Picture 6" descr="neuratex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6126480"/>
            <a:ext cx="1097280" cy="65712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C947"/>
                </a:solidFill>
                <a:latin typeface="Arial"/>
              </a:defRPr>
            </a:pPr>
            <a:r>
              <a:t>WAS SIE NACH KURZER ZEIT SEHEN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Arial"/>
              </a:defRPr>
            </a:pPr>
            <a:r>
              <a:t>Konkrete Ergebnisse statt Folien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37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 sz="1800" b="1">
                <a:solidFill>
                  <a:srgbClr val="FFC947"/>
                </a:solidFill>
                <a:latin typeface="Arial"/>
              </a:defRPr>
            </a:pPr>
            <a:r>
              <a:t>Beispielhafte Outcomes: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  <a:defRPr sz="1800">
                <a:solidFill>
                  <a:srgbClr val="CBD5E1"/>
                </a:solidFill>
                <a:latin typeface="Arial"/>
              </a:defRPr>
            </a:pPr>
            <a:r>
              <a:t>• Dokumente, die wirklich auffindbar sind</a:t>
            </a:r>
          </a:p>
          <a:p>
            <a:pPr>
              <a:lnSpc>
                <a:spcPct val="150000"/>
              </a:lnSpc>
              <a:spcAft>
                <a:spcPts val="800"/>
              </a:spcAft>
              <a:defRPr sz="1800">
                <a:solidFill>
                  <a:srgbClr val="CBD5E1"/>
                </a:solidFill>
                <a:latin typeface="Arial"/>
              </a:defRPr>
            </a:pPr>
            <a:r>
              <a:t>• Tabellen, die man direkt weiterverwenden kann</a:t>
            </a:r>
          </a:p>
          <a:p>
            <a:pPr>
              <a:lnSpc>
                <a:spcPct val="150000"/>
              </a:lnSpc>
              <a:spcAft>
                <a:spcPts val="800"/>
              </a:spcAft>
              <a:defRPr sz="1800">
                <a:solidFill>
                  <a:srgbClr val="CBD5E1"/>
                </a:solidFill>
                <a:latin typeface="Arial"/>
              </a:defRPr>
            </a:pPr>
            <a:r>
              <a:t>• Erste Wissensfälle, die jeder findet</a:t>
            </a:r>
          </a:p>
          <a:p>
            <a:pPr>
              <a:lnSpc>
                <a:spcPct val="150000"/>
              </a:lnSpc>
              <a:spcAft>
                <a:spcPts val="800"/>
              </a:spcAft>
              <a:defRPr sz="1800">
                <a:solidFill>
                  <a:srgbClr val="CBD5E1"/>
                </a:solidFill>
                <a:latin typeface="Arial"/>
              </a:defRPr>
            </a:pPr>
            <a:r>
              <a:t>• Eine Such- oder Assistenzoberfläche, die im Alltag testbar ist</a:t>
            </a:r>
          </a:p>
        </p:txBody>
      </p:sp>
      <p:pic>
        <p:nvPicPr>
          <p:cNvPr id="6" name="Picture 5" descr="neuratex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6126480"/>
            <a:ext cx="1097280" cy="65712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C947"/>
                </a:solidFill>
                <a:latin typeface="Arial"/>
              </a:defRPr>
            </a:pPr>
            <a:r>
              <a:t>SICHERHEIT UND VERTRAULICHKEIT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Arial"/>
              </a:defRPr>
            </a:pPr>
            <a:r>
              <a:t>Wenn Daten Betriebsgeheimnis sind,</a:t>
            </a:r>
            <a:br/>
            <a:r>
              <a:t>wird das mitgedacht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  <a:defRPr sz="1700">
                <a:solidFill>
                  <a:srgbClr val="CBD5E1"/>
                </a:solidFill>
                <a:latin typeface="Arial"/>
              </a:defRPr>
            </a:pPr>
            <a:r>
              <a:t>• Interne Nutzung</a:t>
            </a:r>
          </a:p>
          <a:p>
            <a:pPr>
              <a:lnSpc>
                <a:spcPct val="150000"/>
              </a:lnSpc>
              <a:spcAft>
                <a:spcPts val="800"/>
              </a:spcAft>
              <a:defRPr sz="1700">
                <a:solidFill>
                  <a:srgbClr val="CBD5E1"/>
                </a:solidFill>
                <a:latin typeface="Arial"/>
              </a:defRPr>
            </a:pPr>
            <a:r>
              <a:t>• Zugriffsrechte</a:t>
            </a:r>
          </a:p>
          <a:p>
            <a:pPr>
              <a:lnSpc>
                <a:spcPct val="150000"/>
              </a:lnSpc>
              <a:spcAft>
                <a:spcPts val="800"/>
              </a:spcAft>
              <a:defRPr sz="1700">
                <a:solidFill>
                  <a:srgbClr val="CBD5E1"/>
                </a:solidFill>
                <a:latin typeface="Arial"/>
              </a:defRPr>
            </a:pPr>
            <a:r>
              <a:t>• Transparenz, welche Quellen genutzt werden</a:t>
            </a:r>
          </a:p>
          <a:p>
            <a:pPr>
              <a:lnSpc>
                <a:spcPct val="150000"/>
              </a:lnSpc>
              <a:spcAft>
                <a:spcPts val="800"/>
              </a:spcAft>
              <a:defRPr sz="1700">
                <a:solidFill>
                  <a:srgbClr val="CBD5E1"/>
                </a:solidFill>
                <a:latin typeface="Arial"/>
              </a:defRPr>
            </a:pPr>
            <a:r>
              <a:t>• Keine Veröffentlichung von Inhalten</a:t>
            </a:r>
          </a:p>
          <a:p>
            <a:pPr>
              <a:lnSpc>
                <a:spcPct val="150000"/>
              </a:lnSpc>
              <a:spcAft>
                <a:spcPts val="800"/>
              </a:spcAft>
              <a:defRPr sz="1700">
                <a:solidFill>
                  <a:srgbClr val="CBD5E1"/>
                </a:solidFill>
                <a:latin typeface="Arial"/>
              </a:defRPr>
            </a:pPr>
            <a:r>
              <a:t>• Saubere Abgrenzung, was im System landet und was nicht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5029200"/>
            <a:ext cx="8229600" cy="822960"/>
          </a:xfrm>
          <a:prstGeom prst="roundRect">
            <a:avLst/>
          </a:prstGeom>
          <a:solidFill>
            <a:srgbClr val="FFC9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1000"/>
              </a:spcBef>
              <a:defRPr sz="1800" b="1">
                <a:solidFill>
                  <a:srgbClr val="0A1931"/>
                </a:solidFill>
                <a:latin typeface="Arial"/>
              </a:defRPr>
            </a:pPr>
            <a:r>
              <a:t>Wissen soll verfügbar sein. Aber nur für die Richtigen.</a:t>
            </a:r>
          </a:p>
        </p:txBody>
      </p:sp>
      <p:pic>
        <p:nvPicPr>
          <p:cNvPr id="6" name="Picture 5" descr="neuratex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6126480"/>
            <a:ext cx="1097280" cy="65712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CBD5E1"/>
                </a:solidFill>
                <a:latin typeface="Arial"/>
              </a:defRPr>
            </a:pPr>
            <a:r>
              <a:t>Wir ersetzen keine Menschen.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10312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C947"/>
                </a:solidFill>
                <a:latin typeface="Arial"/>
              </a:defRPr>
            </a:pPr>
            <a:r>
              <a:t>Wir ersetzen Sucharbeit,</a:t>
            </a:r>
            <a:br/>
            <a:r>
              <a:t>Unterbrechungen und Wissensverlust.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 sz="1400" b="1">
                <a:solidFill>
                  <a:srgbClr val="FFC947"/>
                </a:solidFill>
                <a:latin typeface="Arial"/>
              </a:defRPr>
            </a:pPr>
            <a:r>
              <a:t>Kontakt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 sz="2000" b="1">
                <a:solidFill>
                  <a:srgbClr val="F8FAFC"/>
                </a:solidFill>
                <a:latin typeface="Arial"/>
              </a:defRPr>
            </a:pPr>
            <a:r>
              <a:t>Philipp Koch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 sz="1800" b="0">
                <a:solidFill>
                  <a:srgbClr val="CBD5E1"/>
                </a:solidFill>
                <a:latin typeface="Arial"/>
              </a:defRPr>
            </a:pPr>
            <a:r>
              <a:t>Neuratex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303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 sz="1600" b="0">
                <a:solidFill>
                  <a:srgbClr val="CBD5E1"/>
                </a:solidFill>
                <a:latin typeface="Arial"/>
              </a:defRPr>
            </a:pPr>
            <a:r>
              <a:t>philippkoch@neuratex.de</a:t>
            </a:r>
          </a:p>
        </p:txBody>
      </p:sp>
      <p:pic>
        <p:nvPicPr>
          <p:cNvPr id="8" name="Picture 7" descr="neuratex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114800"/>
            <a:ext cx="2743200" cy="16428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