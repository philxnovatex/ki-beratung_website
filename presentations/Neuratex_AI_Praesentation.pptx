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Ich helfe technischen Unternehmen dabei, Informationen schnell auffindbar zu machen, ohne ihre Systeme umzubauen.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37160" cy="164592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600" b="0">
                <a:solidFill>
                  <a:srgbClr val="CBD5E1"/>
                </a:solidFill>
                <a:latin typeface="Arial"/>
              </a:defRPr>
            </a:pPr>
            <a:r>
              <a:t>Wissen nutzbar machen.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600" b="0">
                <a:solidFill>
                  <a:srgbClr val="CBD5E1"/>
                </a:solidFill>
                <a:latin typeface="Arial"/>
              </a:defRPr>
            </a:pPr>
            <a:r>
              <a:t>Suche eliminieren.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600" b="0">
                <a:solidFill>
                  <a:srgbClr val="CBD5E1"/>
                </a:solidFill>
                <a:latin typeface="Arial"/>
              </a:defRPr>
            </a:pPr>
            <a:r>
              <a:t>Service beschleunigen.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5200" b="1">
                <a:solidFill>
                  <a:srgbClr val="FFC947"/>
                </a:solidFill>
                <a:latin typeface="Arial"/>
              </a:defRPr>
            </a:pPr>
            <a:r>
              <a:t>Neuratex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CBD5E1"/>
                </a:solidFill>
                <a:latin typeface="Arial"/>
              </a:defRPr>
            </a:pPr>
            <a:r>
              <a:t>Philipp Koch</a:t>
            </a:r>
          </a:p>
        </p:txBody>
      </p:sp>
      <p:pic>
        <p:nvPicPr>
          <p:cNvPr id="8" name="Picture 7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2560320" cy="15332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DIE REALITÄT IN TECHNISCHEN UNTERNEHMEN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Warum es heute oft unnötig langsam 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931920" cy="228600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Kritisches Wissen liegt verteilt in: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56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PDFs und Scans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Tabellen und Listen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Zeichnungen und Katalogen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E-Mails, Ordnern, SharePoint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Köpfen einzelner Mitarbeiter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920240"/>
            <a:ext cx="3931920" cy="228600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057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Das Ergebnis im Alltag: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377440"/>
            <a:ext cx="356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Suchen statt arbeiten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Rückfragen statt Lösungen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Abhängigkeit von Schlüsselpersonen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Lange Antwortzeiten im Service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8229600" cy="100584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700" b="1">
                <a:solidFill>
                  <a:srgbClr val="0A1931"/>
                </a:solidFill>
                <a:latin typeface="Arial"/>
              </a:defRPr>
            </a:pPr>
            <a:r>
              <a:t>Wenn Information existiert, aber nicht auffindbar ist,</a:t>
            </a:r>
            <a:br/>
            <a:r>
              <a:t>ist sie wirtschaftlich wertlos.</a:t>
            </a:r>
          </a:p>
        </p:txBody>
      </p:sp>
      <p:pic>
        <p:nvPicPr>
          <p:cNvPr id="11" name="Picture 10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WAS ES WIRKLICH KOSTET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Zeitverlust ist nur die Oberfläche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0800" cy="256032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Direkte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Suchzeit im Service und Vertrieb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Unterbrechungen und Kontextwechsel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Doppelte Arbeit durch wiederholte Recherche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2011680"/>
            <a:ext cx="50800" cy="256032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Indirekte Kosten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377440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Langsamer Service wirkt inkompetent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Kunden springen ab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Experten werden zum Flaschenhals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Einarbeitung dauert zu lange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8229600" cy="100584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700" b="1">
                <a:solidFill>
                  <a:srgbClr val="0A1931"/>
                </a:solidFill>
                <a:latin typeface="Arial"/>
              </a:defRPr>
            </a:pPr>
            <a:r>
              <a:t>Wachstum scheitert selten an Nachfrage.</a:t>
            </a:r>
            <a:br/>
            <a:r>
              <a:t>Es scheitert an Zugriff auf Wissen.</a:t>
            </a:r>
          </a:p>
        </p:txBody>
      </p:sp>
      <p:pic>
        <p:nvPicPr>
          <p:cNvPr id="11" name="Picture 10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WARUM KLASSISCHE ANSÄTZE NICHT REICHEN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Warum Teams, SharePoint und Ablage</a:t>
            </a:r>
            <a:br/>
            <a:r>
              <a:t>das Problem nicht lösen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200" b="1">
                <a:solidFill>
                  <a:srgbClr val="FFC947"/>
                </a:solidFill>
                <a:latin typeface="Arial"/>
              </a:defRPr>
            </a:pPr>
            <a:r>
              <a:t>Ablage ist nicht Zugriff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06040"/>
            <a:ext cx="822960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•  Wer nicht weiß, wonach er suchen muss, findet nichts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•  Gescannte Tabellen und Zeichnungen sind nicht zuverlässig durchsuchbar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•  Wissen aus gelösten Fällen wird selten standardisiert festgehalten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600">
                <a:solidFill>
                  <a:srgbClr val="CBD5E1"/>
                </a:solidFill>
                <a:latin typeface="Arial"/>
              </a:defRPr>
            </a:pPr>
            <a:r>
              <a:t>•  Ergebnisse landen in Chats, Telefonaten oder WhatsApp – und verschwinden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846320"/>
            <a:ext cx="8229600" cy="100584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2000" b="1">
                <a:solidFill>
                  <a:srgbClr val="0A1931"/>
                </a:solidFill>
                <a:latin typeface="Arial"/>
              </a:defRPr>
            </a:pPr>
            <a:r>
              <a:t>Viele Unternehmen haben Speicher.</a:t>
            </a:r>
            <a:br/>
            <a:r>
              <a:t>Was fehlt, ist ein Gedächtnis.</a:t>
            </a:r>
          </a:p>
        </p:txBody>
      </p:sp>
      <p:pic>
        <p:nvPicPr>
          <p:cNvPr id="8" name="Picture 7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WAS WIR KONKRET LIEFERN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Keine Tool-Show. Konkrete Ergebnisse.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600" b="0">
                <a:solidFill>
                  <a:srgbClr val="CBD5E1"/>
                </a:solidFill>
                <a:latin typeface="Arial"/>
              </a:defRPr>
            </a:pPr>
            <a:r>
              <a:t>Wir liefern drei Dinge, je nach Ausgangslage: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8FAFC"/>
                </a:solidFill>
                <a:latin typeface="Arial"/>
              </a:defRPr>
            </a:pPr>
            <a:r>
              <a:t>Dokumente werden nutzbar gemacht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06324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154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8FAFC"/>
                </a:solidFill>
                <a:latin typeface="Arial"/>
              </a:defRPr>
            </a:pPr>
            <a:r>
              <a:t>Erfahrungswissen wird strukturiert gesichert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749039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047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000" b="0">
                <a:solidFill>
                  <a:srgbClr val="F8FAFC"/>
                </a:solidFill>
                <a:latin typeface="Arial"/>
              </a:defRPr>
            </a:pPr>
            <a:r>
              <a:t>Zugriff wird drastisch beschleunigt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846320"/>
            <a:ext cx="8229600" cy="100584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700" b="1">
                <a:solidFill>
                  <a:srgbClr val="0A1931"/>
                </a:solidFill>
                <a:latin typeface="Arial"/>
              </a:defRPr>
            </a:pPr>
            <a:r>
              <a:t>Wir ersetzen keine Systeme.</a:t>
            </a:r>
            <a:br/>
            <a:r>
              <a:t>Wir bauen eine Zugriffsebene auf Ihren Bestand.</a:t>
            </a:r>
          </a:p>
        </p:txBody>
      </p:sp>
      <p:pic>
        <p:nvPicPr>
          <p:cNvPr id="12" name="Picture 11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C947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LÖSUNG 1: ALTUNTERLAGEN NUTZBAR MACHEN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Von Scan-Chaos zu Arbeitsdaten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931920" cy="237744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Typische Inputs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Gescannte Kataloge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PDF-Tabellen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Stücklisten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Kennlinien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Ersatzteilseiten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Zeichnungen mit Positionsnummern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828800"/>
            <a:ext cx="3931920" cy="237744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Outputs, die im Alltag zählen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28600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Durchsuchbare Dokumente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Saubere Tabellen (Excel/CSV)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Importdaten für ERP oder Shop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Strukturierte Daten mit klaren Feldern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572000"/>
            <a:ext cx="8229600" cy="86868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800" b="1">
                <a:solidFill>
                  <a:srgbClr val="0A1931"/>
                </a:solidFill>
                <a:latin typeface="Arial"/>
              </a:defRPr>
            </a:pPr>
            <a:r>
              <a:t>Jemand findet in 30 Sekunden, was er heute in 15 Minuten sucht.</a:t>
            </a:r>
          </a:p>
        </p:txBody>
      </p:sp>
      <p:pic>
        <p:nvPicPr>
          <p:cNvPr id="12" name="Picture 11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C947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LÖSUNG 2: ERFAHRUNGSWISSEN SICHERN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Wissen geht sonst in Rente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931920" cy="182880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Das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Trefferquote hängt an Personen, nicht am System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Lösungen sind implizit und werden nie dokumentiert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Neue Mitarbeiter müssen fragen statt handeln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828800"/>
            <a:ext cx="3931920" cy="182880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Unsere Lösung: Schlanke Fallkarten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2860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Maschine / Baureihe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Symptom / Anfrage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Lösungsschritte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Teile und Hinweise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Quelle / Referenz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822960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Ergebnis: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77639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Wissen bleibt im Unternehmen  •  Einarbeitung wird schneller  •  Qualität wird stabiler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8229600" cy="86868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900" b="1">
                <a:solidFill>
                  <a:srgbClr val="0A1931"/>
                </a:solidFill>
                <a:latin typeface="Arial"/>
              </a:defRPr>
            </a:pPr>
            <a:r>
              <a:t>Gute Leute sollen Probleme lösen. Nicht Wissen wiederfinden.</a:t>
            </a:r>
          </a:p>
        </p:txBody>
      </p:sp>
      <p:pic>
        <p:nvPicPr>
          <p:cNvPr id="15" name="Picture 14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C947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LÖSUNG 3: INTERNES ASSISTENZSYSTEM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Schnelle Antworten aus eigenen Quellen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651760" cy="164592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Was es 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Internes System für Service &amp; Vertrieb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Beantwortet Fragen aus Ihren Dokumenten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828800"/>
            <a:ext cx="2651760" cy="164592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965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Was es NICHT 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2860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Kein Endkundentool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Kein Chatbot ohne Nachweise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Keine Fantasie-Antworten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828800"/>
            <a:ext cx="2651760" cy="1645920"/>
          </a:xfrm>
          <a:prstGeom prst="roundRect">
            <a:avLst/>
          </a:prstGeom>
          <a:solidFill>
            <a:srgbClr val="112240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965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Vertrauen durch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2860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Antworten mit Quellenbezug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Verlinkung zur Originalstelle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Nachvollziehbar für Mitarbeiter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49039"/>
            <a:ext cx="822960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886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1">
                <a:solidFill>
                  <a:srgbClr val="FFC947"/>
                </a:solidFill>
                <a:latin typeface="Arial"/>
              </a:defRPr>
            </a:pPr>
            <a:r>
              <a:t>Ergebnis: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8862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Minuten statt Viertelstunden  •  Weniger Rückfragen  •  Experten entlastet</a:t>
            </a:r>
          </a:p>
        </p:txBody>
      </p:sp>
      <p:pic>
        <p:nvPicPr>
          <p:cNvPr id="17" name="Picture 16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SO VERBINDEN SICH DIE DREI LÖSUNGEN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Ein System. Drei Einstiegspunkte.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2651760" cy="1005840"/>
          </a:xfrm>
          <a:prstGeom prst="roundRect">
            <a:avLst/>
          </a:prstGeom>
          <a:solidFill>
            <a:srgbClr val="112240"/>
          </a:solidFill>
          <a:ln w="25400">
            <a:solidFill>
              <a:srgbClr val="FFC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Dokumente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300" b="0">
                <a:solidFill>
                  <a:srgbClr val="CBD5E1"/>
                </a:solidFill>
                <a:latin typeface="Arial"/>
              </a:defRPr>
            </a:pPr>
            <a:r>
              <a:t>sind die Basis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920240"/>
            <a:ext cx="2651760" cy="1005840"/>
          </a:xfrm>
          <a:prstGeom prst="roundRect">
            <a:avLst/>
          </a:prstGeom>
          <a:solidFill>
            <a:srgbClr val="112240"/>
          </a:solidFill>
          <a:ln w="25400">
            <a:solidFill>
              <a:srgbClr val="FFC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Erfahrungswissen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2377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300" b="0">
                <a:solidFill>
                  <a:srgbClr val="CBD5E1"/>
                </a:solidFill>
                <a:latin typeface="Arial"/>
              </a:defRPr>
            </a:pPr>
            <a:r>
              <a:t>macht es praxisnah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920240"/>
            <a:ext cx="2651760" cy="1005840"/>
          </a:xfrm>
          <a:prstGeom prst="roundRect">
            <a:avLst/>
          </a:prstGeom>
          <a:solidFill>
            <a:srgbClr val="112240"/>
          </a:solidFill>
          <a:ln w="25400">
            <a:solidFill>
              <a:srgbClr val="FFC9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377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300" b="0">
                <a:solidFill>
                  <a:srgbClr val="CBD5E1"/>
                </a:solidFill>
                <a:latin typeface="Arial"/>
              </a:defRPr>
            </a:pPr>
            <a:r>
              <a:t>macht Zugriff schnell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08960" y="2286000"/>
            <a:ext cx="228600" cy="228600"/>
          </a:xfrm>
          <a:prstGeom prst="rightArrow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897880" y="2286000"/>
            <a:ext cx="228600" cy="228600"/>
          </a:xfrm>
          <a:prstGeom prst="rightArrow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500" b="1">
                <a:solidFill>
                  <a:srgbClr val="F8FAFC"/>
                </a:solidFill>
                <a:latin typeface="Arial"/>
              </a:defRPr>
            </a:pPr>
            <a:r>
              <a:t>Man kann starten mit: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Altunterlagen → wenn Dokumentchaos dominiert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Wissensfällen → wenn Experten Engpass sind</a:t>
            </a:r>
          </a:p>
          <a:p>
            <a:pPr>
              <a:lnSpc>
                <a:spcPct val="160000"/>
              </a:lnSpc>
              <a:spcAft>
                <a:spcPts val="600"/>
              </a:spcAft>
              <a:defRPr sz="1500">
                <a:solidFill>
                  <a:srgbClr val="CBD5E1"/>
                </a:solidFill>
                <a:latin typeface="Arial"/>
              </a:defRPr>
            </a:pPr>
            <a:r>
              <a:t>•  Assistenz → wenn Suche im Alltag Zeit frisst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120640"/>
            <a:ext cx="8229600" cy="77724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800" b="1">
                <a:solidFill>
                  <a:srgbClr val="0A1931"/>
                </a:solidFill>
                <a:latin typeface="Arial"/>
              </a:defRPr>
            </a:pPr>
            <a:r>
              <a:t>Das ist kein Bauchladen. Es ist eine klare Stufenlogik.</a:t>
            </a:r>
          </a:p>
        </p:txBody>
      </p:sp>
      <p:pic>
        <p:nvPicPr>
          <p:cNvPr id="18" name="Picture 17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WARUM JETZT SINNVOLL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Timing ist gerade ideal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920240"/>
            <a:ext cx="320040" cy="32004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1931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Neue ERP-/CRM-Einführungen erhöhen</a:t>
            </a:r>
            <a:br/>
            <a:r>
              <a:t>Sichtbarkeit von Datenproblemen</a:t>
            </a:r>
          </a:p>
        </p:txBody>
      </p:sp>
      <p:sp>
        <p:nvSpPr>
          <p:cNvPr id="6" name="Oval 5"/>
          <p:cNvSpPr/>
          <p:nvPr/>
        </p:nvSpPr>
        <p:spPr>
          <a:xfrm>
            <a:off x="4572000" y="1920240"/>
            <a:ext cx="320040" cy="32004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1931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920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Ohne saubere Dokumentbasis werden</a:t>
            </a:r>
            <a:br/>
            <a:r>
              <a:t>neue Systeme langsamer akzeptiert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1931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Wissensverlust durch Renteneintritte</a:t>
            </a:r>
            <a:br/>
            <a:r>
              <a:t>ist planbar, aber oft unvorbereitet</a:t>
            </a:r>
          </a:p>
        </p:txBody>
      </p:sp>
      <p:sp>
        <p:nvSpPr>
          <p:cNvPr id="10" name="Oval 9"/>
          <p:cNvSpPr/>
          <p:nvPr/>
        </p:nvSpPr>
        <p:spPr>
          <a:xfrm>
            <a:off x="4572000" y="3291840"/>
            <a:ext cx="320040" cy="32004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1931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291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Service-Anfragen steigen,</a:t>
            </a:r>
            <a:br/>
            <a:r>
              <a:t>während Fachkräfte knapp sind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846320"/>
            <a:ext cx="8229600" cy="100584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700" b="1">
                <a:solidFill>
                  <a:srgbClr val="0A1931"/>
                </a:solidFill>
                <a:latin typeface="Arial"/>
              </a:defRPr>
            </a:pPr>
            <a:r>
              <a:t>Ein neues System ohne nutzbares Wissen ist wie</a:t>
            </a:r>
            <a:br/>
            <a:r>
              <a:t>ein neues Lager ohne Beschriftung.</a:t>
            </a:r>
          </a:p>
        </p:txBody>
      </p:sp>
      <p:pic>
        <p:nvPicPr>
          <p:cNvPr id="13" name="Picture 12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VORGEHEN OHNE GROSSPROJEKT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Pragmatisch. Schrittweise. Messbar.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201168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Machbarkeitscheck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An echten Unterlagen und echten Fragen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78892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Kleines Paket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Mit sichtbarem Output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6616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Skalierung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862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Auf weitere Fabrikate oder Dokumenttypen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34340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63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Optional in bestehende Systeme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120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800" b="1">
                <a:solidFill>
                  <a:srgbClr val="0A1931"/>
                </a:solidFill>
                <a:latin typeface="Arial"/>
              </a:defRPr>
            </a:pPr>
            <a:r>
              <a:t>Wir beweisen Nutzen zuerst. Danach wird entschieden.</a:t>
            </a:r>
          </a:p>
        </p:txBody>
      </p:sp>
      <p:pic>
        <p:nvPicPr>
          <p:cNvPr id="17" name="Picture 16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WAS WIR VON IHNEN BRAUCHEN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Minimaler Aufwand auf Kundenseite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FC947"/>
                </a:solidFill>
                <a:latin typeface="Arial"/>
              </a:defRPr>
            </a:pPr>
            <a:r>
              <a:t>Für den Start reichen: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320040" cy="32004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A1931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3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8FAFC"/>
                </a:solidFill>
                <a:latin typeface="Arial"/>
              </a:defRPr>
            </a:pPr>
            <a:r>
              <a:t>2–5 Dokumente, die heute nerven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79"/>
            <a:ext cx="320040" cy="32004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A1931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39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8FAFC"/>
                </a:solidFill>
                <a:latin typeface="Arial"/>
              </a:defRPr>
            </a:pPr>
            <a:r>
              <a:t>3–10 typische Fragen aus dem Alltag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49039"/>
            <a:ext cx="320040" cy="320040"/>
          </a:xfrm>
          <a:prstGeom prst="round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A1931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5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0">
                <a:solidFill>
                  <a:srgbClr val="F8FAFC"/>
                </a:solidFill>
                <a:latin typeface="Arial"/>
              </a:defRPr>
            </a:pPr>
            <a:r>
              <a:t>Ein Ansprechpartner aus Service oder Produktmanagement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4200" b="1">
                <a:solidFill>
                  <a:srgbClr val="FFC947"/>
                </a:solidFill>
                <a:latin typeface="Arial"/>
              </a:defRPr>
            </a:pPr>
            <a:r>
              <a:t>Das war's.</a:t>
            </a:r>
          </a:p>
        </p:txBody>
      </p:sp>
      <p:pic>
        <p:nvPicPr>
          <p:cNvPr id="12" name="Picture 11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WAS SIE NACH KURZER ZEIT SEHEN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Konkrete Ergebnisse statt Folien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600" b="1">
                <a:solidFill>
                  <a:srgbClr val="FFC947"/>
                </a:solidFill>
                <a:latin typeface="Arial"/>
              </a:defRPr>
            </a:pPr>
            <a:r>
              <a:t>Beispielhafte Outcomes: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6032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8FAFC"/>
                </a:solidFill>
                <a:latin typeface="Arial"/>
              </a:defRPr>
            </a:pPr>
            <a:r>
              <a:t>Dokumente, die wirklich auffindbar sind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20040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8FAFC"/>
                </a:solidFill>
                <a:latin typeface="Arial"/>
              </a:defRPr>
            </a:pPr>
            <a:r>
              <a:t>Tabellen, die man direkt weiterverwenden kann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84048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8FAFC"/>
                </a:solidFill>
                <a:latin typeface="Arial"/>
              </a:defRPr>
            </a:pPr>
            <a:r>
              <a:t>Erste Wissensfälle, die jeder findet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4480560"/>
            <a:ext cx="502920" cy="502920"/>
          </a:xfrm>
          <a:prstGeom prst="ellipse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A1931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700" b="0">
                <a:solidFill>
                  <a:srgbClr val="F8FAFC"/>
                </a:solidFill>
                <a:latin typeface="Arial"/>
              </a:defRPr>
            </a:pPr>
            <a:r>
              <a:t>Eine Such- oder Assistenzoberfläche, die im Alltag testbar ist</a:t>
            </a:r>
          </a:p>
        </p:txBody>
      </p:sp>
      <p:pic>
        <p:nvPicPr>
          <p:cNvPr id="13" name="Picture 12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C947"/>
                </a:solidFill>
                <a:latin typeface="Arial"/>
              </a:defRPr>
            </a:pPr>
            <a:r>
              <a:t>SICHERHEIT UND VERTRAULICHKEIT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Wenn Daten Betriebsgeheimnis sind,</a:t>
            </a:r>
            <a:br/>
            <a:r>
              <a:t>wird das mitgedacht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2651760" cy="914400"/>
          </a:xfrm>
          <a:prstGeom prst="roundRect">
            <a:avLst/>
          </a:prstGeom>
          <a:solidFill>
            <a:srgbClr val="11224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 b="1">
                <a:solidFill>
                  <a:srgbClr val="FFC947"/>
                </a:solidFill>
                <a:latin typeface="Arial"/>
              </a:defRPr>
            </a:pPr>
            <a:r>
              <a:t>Interne Nutzung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6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100" b="0">
                <a:solidFill>
                  <a:srgbClr val="CBD5E1"/>
                </a:solidFill>
                <a:latin typeface="Arial"/>
              </a:defRPr>
            </a:pPr>
            <a:r>
              <a:t>Keine externe Weitergabe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194560"/>
            <a:ext cx="2651760" cy="914400"/>
          </a:xfrm>
          <a:prstGeom prst="roundRect">
            <a:avLst/>
          </a:prstGeom>
          <a:solidFill>
            <a:srgbClr val="11224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79" y="2286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 b="1">
                <a:solidFill>
                  <a:srgbClr val="FFC947"/>
                </a:solidFill>
                <a:latin typeface="Arial"/>
              </a:defRPr>
            </a:pPr>
            <a:r>
              <a:t>Zugriffsrechte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79" y="2606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100" b="0">
                <a:solidFill>
                  <a:srgbClr val="CBD5E1"/>
                </a:solidFill>
                <a:latin typeface="Arial"/>
              </a:defRPr>
            </a:pPr>
            <a:r>
              <a:t>Rollenbasierte Kontrolle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194560"/>
            <a:ext cx="2651760" cy="914400"/>
          </a:xfrm>
          <a:prstGeom prst="roundRect">
            <a:avLst/>
          </a:prstGeom>
          <a:solidFill>
            <a:srgbClr val="11224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286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 b="1">
                <a:solidFill>
                  <a:srgbClr val="FFC947"/>
                </a:solidFill>
                <a:latin typeface="Arial"/>
              </a:defRPr>
            </a:pPr>
            <a:r>
              <a:t>Transparenz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606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100" b="0">
                <a:solidFill>
                  <a:srgbClr val="CBD5E1"/>
                </a:solidFill>
                <a:latin typeface="Arial"/>
              </a:defRPr>
            </a:pPr>
            <a:r>
              <a:t>Sichtbar welche Quellen genutzt werden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383280"/>
            <a:ext cx="2651760" cy="914400"/>
          </a:xfrm>
          <a:prstGeom prst="roundRect">
            <a:avLst/>
          </a:prstGeom>
          <a:solidFill>
            <a:srgbClr val="11224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3474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 b="1">
                <a:solidFill>
                  <a:srgbClr val="FFC947"/>
                </a:solidFill>
                <a:latin typeface="Arial"/>
              </a:defRPr>
            </a:pPr>
            <a:r>
              <a:t>Keine Veröffentlichung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794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100" b="0">
                <a:solidFill>
                  <a:srgbClr val="CBD5E1"/>
                </a:solidFill>
                <a:latin typeface="Arial"/>
              </a:defRPr>
            </a:pPr>
            <a:r>
              <a:t>Inhalte bleiben geschützt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383280"/>
            <a:ext cx="2651760" cy="914400"/>
          </a:xfrm>
          <a:prstGeom prst="roundRect">
            <a:avLst/>
          </a:prstGeom>
          <a:solidFill>
            <a:srgbClr val="11224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3474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 b="1">
                <a:solidFill>
                  <a:srgbClr val="FFC947"/>
                </a:solidFill>
                <a:latin typeface="Arial"/>
              </a:defRPr>
            </a:pPr>
            <a:r>
              <a:t>Klare Abgrenzung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794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100" b="0">
                <a:solidFill>
                  <a:srgbClr val="CBD5E1"/>
                </a:solidFill>
                <a:latin typeface="Arial"/>
              </a:defRPr>
            </a:pPr>
            <a:r>
              <a:t>Was rein darf und was nicht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63440"/>
            <a:ext cx="8229600" cy="777240"/>
          </a:xfrm>
          <a:prstGeom prst="roundRect">
            <a:avLst>
              <a:gd name="adj" fmla="val 10000"/>
            </a:avLst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800" b="1">
                <a:solidFill>
                  <a:srgbClr val="0A1931"/>
                </a:solidFill>
                <a:latin typeface="Arial"/>
              </a:defRPr>
            </a:pPr>
            <a:r>
              <a:t>Wissen soll verfügbar sein. Aber nur für die Richtigen.</a:t>
            </a:r>
          </a:p>
        </p:txBody>
      </p:sp>
      <p:pic>
        <p:nvPicPr>
          <p:cNvPr id="20" name="Picture 19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74320"/>
            <a:ext cx="1188720" cy="71188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37160" cy="18288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400" b="0">
                <a:solidFill>
                  <a:srgbClr val="CBD5E1"/>
                </a:solidFill>
                <a:latin typeface="Arial"/>
              </a:defRPr>
            </a:pPr>
            <a:r>
              <a:t>Wir ersetzen keine Menschen.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3200" b="1">
                <a:solidFill>
                  <a:srgbClr val="FFC947"/>
                </a:solidFill>
                <a:latin typeface="Arial"/>
              </a:defRPr>
            </a:pPr>
            <a:r>
              <a:t>Wir ersetzen Sucharbeit,</a:t>
            </a:r>
            <a:br/>
            <a:r>
              <a:t>Unterbrechungen und</a:t>
            </a:r>
            <a:br/>
            <a:r>
              <a:t>Wissensverlust.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572000"/>
            <a:ext cx="3657600" cy="1371600"/>
          </a:xfrm>
          <a:prstGeom prst="roundRect">
            <a:avLst/>
          </a:prstGeom>
          <a:solidFill>
            <a:srgbClr val="11224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1">
                <a:solidFill>
                  <a:srgbClr val="FFC947"/>
                </a:solidFill>
                <a:latin typeface="Arial"/>
              </a:defRPr>
            </a:pPr>
            <a:r>
              <a:t>Kontakt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800" b="1">
                <a:solidFill>
                  <a:srgbClr val="F8FAFC"/>
                </a:solidFill>
                <a:latin typeface="Arial"/>
              </a:defRPr>
            </a:pPr>
            <a:r>
              <a:t>Philipp Koch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57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32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CBD5E1"/>
                </a:solidFill>
                <a:latin typeface="Arial"/>
              </a:defRPr>
            </a:pPr>
            <a:r>
              <a:t>philippkoch@neuratex.de</a:t>
            </a:r>
          </a:p>
        </p:txBody>
      </p:sp>
      <p:pic>
        <p:nvPicPr>
          <p:cNvPr id="10" name="Picture 9" descr="neuratex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3931920"/>
            <a:ext cx="3200400" cy="1916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9144000" cy="25400"/>
          </a:xfrm>
          <a:prstGeom prst="rect">
            <a:avLst/>
          </a:prstGeom>
          <a:solidFill>
            <a:srgbClr val="FFC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BD5E1"/>
                </a:solidFill>
                <a:latin typeface="Arial"/>
              </a:defRPr>
            </a:pPr>
            <a:r>
              <a:t>Neuratex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